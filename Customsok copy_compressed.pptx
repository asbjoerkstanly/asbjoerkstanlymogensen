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4210" y="185102"/>
            <a:ext cx="2314016" cy="71748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01" y="1"/>
            <a:ext cx="12187966" cy="685751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400747" y="2426715"/>
            <a:ext cx="3651250" cy="5226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04210" y="185102"/>
            <a:ext cx="2314016" cy="71748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29625" y="183387"/>
            <a:ext cx="8532748" cy="5974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696153" y="1400556"/>
            <a:ext cx="5951220" cy="4225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Relationship Id="rId9" Type="http://schemas.openxmlformats.org/officeDocument/2006/relationships/image" Target="../media/image9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Relationship Id="rId7" Type="http://schemas.openxmlformats.org/officeDocument/2006/relationships/image" Target="../media/image15.jpg"/><Relationship Id="rId8" Type="http://schemas.openxmlformats.org/officeDocument/2006/relationships/image" Target="../media/image16.png"/><Relationship Id="rId9" Type="http://schemas.openxmlformats.org/officeDocument/2006/relationships/image" Target="../media/image17.jpg"/><Relationship Id="rId10" Type="http://schemas.openxmlformats.org/officeDocument/2006/relationships/image" Target="../media/image18.jpg"/><Relationship Id="rId11" Type="http://schemas.openxmlformats.org/officeDocument/2006/relationships/image" Target="../media/image19.jpg"/><Relationship Id="rId12" Type="http://schemas.openxmlformats.org/officeDocument/2006/relationships/image" Target="../media/image20.jpg"/><Relationship Id="rId13" Type="http://schemas.openxmlformats.org/officeDocument/2006/relationships/image" Target="../media/image21.jpg"/><Relationship Id="rId14" Type="http://schemas.openxmlformats.org/officeDocument/2006/relationships/image" Target="../media/image22.jpg"/><Relationship Id="rId15" Type="http://schemas.openxmlformats.org/officeDocument/2006/relationships/image" Target="../media/image23.jpg"/><Relationship Id="rId16" Type="http://schemas.openxmlformats.org/officeDocument/2006/relationships/image" Target="../media/image2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5.jpg"/><Relationship Id="rId4" Type="http://schemas.openxmlformats.org/officeDocument/2006/relationships/image" Target="../media/image26.jpg"/><Relationship Id="rId5" Type="http://schemas.openxmlformats.org/officeDocument/2006/relationships/image" Target="../media/image27.jpg"/><Relationship Id="rId6" Type="http://schemas.openxmlformats.org/officeDocument/2006/relationships/image" Target="../media/image28.jpg"/><Relationship Id="rId7" Type="http://schemas.openxmlformats.org/officeDocument/2006/relationships/image" Target="../media/image29.jpg"/><Relationship Id="rId8" Type="http://schemas.openxmlformats.org/officeDocument/2006/relationships/image" Target="../media/image30.jpg"/><Relationship Id="rId9" Type="http://schemas.openxmlformats.org/officeDocument/2006/relationships/image" Target="../media/image31.jpg"/><Relationship Id="rId10" Type="http://schemas.openxmlformats.org/officeDocument/2006/relationships/image" Target="../media/image32.png"/><Relationship Id="rId11" Type="http://schemas.openxmlformats.org/officeDocument/2006/relationships/image" Target="../media/image33.jpg"/><Relationship Id="rId12" Type="http://schemas.openxmlformats.org/officeDocument/2006/relationships/image" Target="../media/image34.jpg"/><Relationship Id="rId13" Type="http://schemas.openxmlformats.org/officeDocument/2006/relationships/image" Target="../media/image35.jpg"/><Relationship Id="rId14" Type="http://schemas.openxmlformats.org/officeDocument/2006/relationships/image" Target="../media/image36.jpg"/><Relationship Id="rId15" Type="http://schemas.openxmlformats.org/officeDocument/2006/relationships/image" Target="../media/image37.jpg"/><Relationship Id="rId16" Type="http://schemas.openxmlformats.org/officeDocument/2006/relationships/image" Target="../media/image38.jpg"/><Relationship Id="rId17" Type="http://schemas.openxmlformats.org/officeDocument/2006/relationships/image" Target="../media/image39.jpg"/><Relationship Id="rId18" Type="http://schemas.openxmlformats.org/officeDocument/2006/relationships/image" Target="../media/image40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41.jpg"/><Relationship Id="rId4" Type="http://schemas.openxmlformats.org/officeDocument/2006/relationships/image" Target="../media/image42.jpg"/><Relationship Id="rId5" Type="http://schemas.openxmlformats.org/officeDocument/2006/relationships/image" Target="../media/image43.jpg"/><Relationship Id="rId6" Type="http://schemas.openxmlformats.org/officeDocument/2006/relationships/image" Target="../media/image44.jpg"/><Relationship Id="rId7" Type="http://schemas.openxmlformats.org/officeDocument/2006/relationships/image" Target="../media/image45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.jpg"/><Relationship Id="rId3" Type="http://schemas.openxmlformats.org/officeDocument/2006/relationships/image" Target="../media/image47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48.jpg"/><Relationship Id="rId4" Type="http://schemas.openxmlformats.org/officeDocument/2006/relationships/image" Target="../media/image49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50.jpg"/><Relationship Id="rId4" Type="http://schemas.openxmlformats.org/officeDocument/2006/relationships/image" Target="../media/image51.jpg"/><Relationship Id="rId5" Type="http://schemas.openxmlformats.org/officeDocument/2006/relationships/image" Target="../media/image52.jpg"/><Relationship Id="rId6" Type="http://schemas.openxmlformats.org/officeDocument/2006/relationships/image" Target="../media/image53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4.jpg"/><Relationship Id="rId3" Type="http://schemas.openxmlformats.org/officeDocument/2006/relationships/image" Target="../media/image55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6.jpg"/><Relationship Id="rId3" Type="http://schemas.openxmlformats.org/officeDocument/2006/relationships/image" Target="../media/image55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7.png"/><Relationship Id="rId3" Type="http://schemas.openxmlformats.org/officeDocument/2006/relationships/image" Target="../media/image1.jpg"/><Relationship Id="rId4" Type="http://schemas.openxmlformats.org/officeDocument/2006/relationships/image" Target="../media/image58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9.jpg"/><Relationship Id="rId3" Type="http://schemas.openxmlformats.org/officeDocument/2006/relationships/image" Target="../media/image1.jpg"/><Relationship Id="rId4" Type="http://schemas.openxmlformats.org/officeDocument/2006/relationships/image" Target="../media/image60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jpg"/><Relationship Id="rId3" Type="http://schemas.openxmlformats.org/officeDocument/2006/relationships/image" Target="../media/image62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jpg"/><Relationship Id="rId3" Type="http://schemas.openxmlformats.org/officeDocument/2006/relationships/image" Target="../media/image1.jpg"/><Relationship Id="rId4" Type="http://schemas.openxmlformats.org/officeDocument/2006/relationships/image" Target="../media/image62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64.jpg"/><Relationship Id="rId4" Type="http://schemas.openxmlformats.org/officeDocument/2006/relationships/image" Target="../media/image65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.jpg"/><Relationship Id="rId3" Type="http://schemas.openxmlformats.org/officeDocument/2006/relationships/image" Target="../media/image67.jpg"/><Relationship Id="rId4" Type="http://schemas.openxmlformats.org/officeDocument/2006/relationships/image" Target="../media/image68.png"/><Relationship Id="rId5" Type="http://schemas.openxmlformats.org/officeDocument/2006/relationships/image" Target="../media/image69.jpg"/><Relationship Id="rId6" Type="http://schemas.openxmlformats.org/officeDocument/2006/relationships/image" Target="../media/image70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71.jpg"/><Relationship Id="rId4" Type="http://schemas.openxmlformats.org/officeDocument/2006/relationships/image" Target="../media/image72.png"/><Relationship Id="rId5" Type="http://schemas.openxmlformats.org/officeDocument/2006/relationships/image" Target="../media/image73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1.jpg"/><Relationship Id="rId3" Type="http://schemas.openxmlformats.org/officeDocument/2006/relationships/image" Target="../media/image74.jpg"/><Relationship Id="rId4" Type="http://schemas.openxmlformats.org/officeDocument/2006/relationships/image" Target="../media/image75.jpg"/><Relationship Id="rId5" Type="http://schemas.openxmlformats.org/officeDocument/2006/relationships/image" Target="../media/image76.jpg"/><Relationship Id="rId6" Type="http://schemas.openxmlformats.org/officeDocument/2006/relationships/image" Target="../media/image77.jpg"/><Relationship Id="rId7" Type="http://schemas.openxmlformats.org/officeDocument/2006/relationships/image" Target="../media/image78.jpg"/><Relationship Id="rId8" Type="http://schemas.openxmlformats.org/officeDocument/2006/relationships/image" Target="../media/image79.jpg"/><Relationship Id="rId9" Type="http://schemas.openxmlformats.org/officeDocument/2006/relationships/image" Target="../media/image80.jpg"/><Relationship Id="rId10" Type="http://schemas.openxmlformats.org/officeDocument/2006/relationships/image" Target="../media/image81.jpg"/><Relationship Id="rId11" Type="http://schemas.openxmlformats.org/officeDocument/2006/relationships/image" Target="../media/image82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83.jpg"/><Relationship Id="rId4" Type="http://schemas.openxmlformats.org/officeDocument/2006/relationships/image" Target="../media/image84.jpg"/><Relationship Id="rId5" Type="http://schemas.openxmlformats.org/officeDocument/2006/relationships/image" Target="../media/image85.jpg"/><Relationship Id="rId6" Type="http://schemas.openxmlformats.org/officeDocument/2006/relationships/image" Target="../media/image86.jpg"/><Relationship Id="rId7" Type="http://schemas.openxmlformats.org/officeDocument/2006/relationships/image" Target="../media/image87.jpg"/><Relationship Id="rId8" Type="http://schemas.openxmlformats.org/officeDocument/2006/relationships/image" Target="../media/image88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89.jpg"/><Relationship Id="rId4" Type="http://schemas.openxmlformats.org/officeDocument/2006/relationships/image" Target="../media/image90.jpg"/><Relationship Id="rId5" Type="http://schemas.openxmlformats.org/officeDocument/2006/relationships/image" Target="../media/image91.jpg"/><Relationship Id="rId6" Type="http://schemas.openxmlformats.org/officeDocument/2006/relationships/image" Target="../media/image92.jpg"/><Relationship Id="rId7" Type="http://schemas.openxmlformats.org/officeDocument/2006/relationships/image" Target="../media/image93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94.jpg"/><Relationship Id="rId4" Type="http://schemas.openxmlformats.org/officeDocument/2006/relationships/image" Target="../media/image95.jpg"/><Relationship Id="rId5" Type="http://schemas.openxmlformats.org/officeDocument/2006/relationships/image" Target="../media/image96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97.jpg"/><Relationship Id="rId4" Type="http://schemas.openxmlformats.org/officeDocument/2006/relationships/image" Target="../media/image96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8.jpg"/><Relationship Id="rId3" Type="http://schemas.openxmlformats.org/officeDocument/2006/relationships/image" Target="../media/image99.jpg"/><Relationship Id="rId4" Type="http://schemas.openxmlformats.org/officeDocument/2006/relationships/image" Target="../media/image100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1.jpg"/><Relationship Id="rId3" Type="http://schemas.openxmlformats.org/officeDocument/2006/relationships/image" Target="../media/image102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103.jpg"/><Relationship Id="rId4" Type="http://schemas.openxmlformats.org/officeDocument/2006/relationships/image" Target="../media/image104.jp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105.jpg"/><Relationship Id="rId4" Type="http://schemas.openxmlformats.org/officeDocument/2006/relationships/image" Target="../media/image104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106.jpg"/><Relationship Id="rId4" Type="http://schemas.openxmlformats.org/officeDocument/2006/relationships/image" Target="../media/image104.jp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7.jpg"/><Relationship Id="rId3" Type="http://schemas.openxmlformats.org/officeDocument/2006/relationships/image" Target="../media/image1.jpg"/><Relationship Id="rId4" Type="http://schemas.openxmlformats.org/officeDocument/2006/relationships/image" Target="../media/image104.jp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8.jpg"/><Relationship Id="rId3" Type="http://schemas.openxmlformats.org/officeDocument/2006/relationships/image" Target="../media/image104.jp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109.jpg"/><Relationship Id="rId4" Type="http://schemas.openxmlformats.org/officeDocument/2006/relationships/image" Target="../media/image96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110.jpg"/><Relationship Id="rId4" Type="http://schemas.openxmlformats.org/officeDocument/2006/relationships/image" Target="../media/image111.jpg"/><Relationship Id="rId5" Type="http://schemas.openxmlformats.org/officeDocument/2006/relationships/image" Target="../media/image100.png"/><Relationship Id="rId6" Type="http://schemas.openxmlformats.org/officeDocument/2006/relationships/image" Target="../media/image112.jp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100.png"/><Relationship Id="rId4" Type="http://schemas.openxmlformats.org/officeDocument/2006/relationships/image" Target="../media/image113.jpg"/><Relationship Id="rId5" Type="http://schemas.openxmlformats.org/officeDocument/2006/relationships/image" Target="../media/image111.jp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4.jpg"/><Relationship Id="rId3" Type="http://schemas.openxmlformats.org/officeDocument/2006/relationships/image" Target="../media/image115.jpg"/><Relationship Id="rId4" Type="http://schemas.openxmlformats.org/officeDocument/2006/relationships/image" Target="../media/image116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7.jpg"/><Relationship Id="rId3" Type="http://schemas.openxmlformats.org/officeDocument/2006/relationships/image" Target="../media/image118.jpg"/><Relationship Id="rId4" Type="http://schemas.openxmlformats.org/officeDocument/2006/relationships/image" Target="../media/image116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9.jpg"/><Relationship Id="rId3" Type="http://schemas.openxmlformats.org/officeDocument/2006/relationships/image" Target="../media/image120.pn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121.jp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122.jpg"/><Relationship Id="rId4" Type="http://schemas.openxmlformats.org/officeDocument/2006/relationships/image" Target="../media/image123.jp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124.jp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125.jp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126.png"/><Relationship Id="rId4" Type="http://schemas.openxmlformats.org/officeDocument/2006/relationships/image" Target="../media/image127.pn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8.jpg"/><Relationship Id="rId3" Type="http://schemas.openxmlformats.org/officeDocument/2006/relationships/image" Target="../media/image129.jpg"/><Relationship Id="rId4" Type="http://schemas.openxmlformats.org/officeDocument/2006/relationships/image" Target="../media/image130.pn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131.jpg"/><Relationship Id="rId4" Type="http://schemas.openxmlformats.org/officeDocument/2006/relationships/image" Target="../media/image132.pn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3.jpg"/><Relationship Id="rId3" Type="http://schemas.openxmlformats.org/officeDocument/2006/relationships/image" Target="../media/image134.jp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4.jpg"/><Relationship Id="rId3" Type="http://schemas.openxmlformats.org/officeDocument/2006/relationships/image" Target="../media/image135.jp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4.jpg"/><Relationship Id="rId3" Type="http://schemas.openxmlformats.org/officeDocument/2006/relationships/image" Target="../media/image136.jp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7.jpg"/><Relationship Id="rId3" Type="http://schemas.openxmlformats.org/officeDocument/2006/relationships/image" Target="../media/image134.jp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8.jpg"/><Relationship Id="rId3" Type="http://schemas.openxmlformats.org/officeDocument/2006/relationships/image" Target="../media/image134.jp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9.jpg"/><Relationship Id="rId3" Type="http://schemas.openxmlformats.org/officeDocument/2006/relationships/image" Target="../media/image134.jp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0.jpg"/><Relationship Id="rId3" Type="http://schemas.openxmlformats.org/officeDocument/2006/relationships/image" Target="../media/image134.jp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1.jpg"/><Relationship Id="rId3" Type="http://schemas.openxmlformats.org/officeDocument/2006/relationships/image" Target="../media/image134.jpg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2.jpg"/><Relationship Id="rId3" Type="http://schemas.openxmlformats.org/officeDocument/2006/relationships/image" Target="../media/image134.jpg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3.jpg"/><Relationship Id="rId3" Type="http://schemas.openxmlformats.org/officeDocument/2006/relationships/image" Target="../media/image134.jpg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4.jpg"/><Relationship Id="rId3" Type="http://schemas.openxmlformats.org/officeDocument/2006/relationships/image" Target="../media/image134.jpg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5.jpg"/><Relationship Id="rId3" Type="http://schemas.openxmlformats.org/officeDocument/2006/relationships/image" Target="../media/image134.jpg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6.jpg"/><Relationship Id="rId3" Type="http://schemas.openxmlformats.org/officeDocument/2006/relationships/image" Target="../media/image147.jpg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7.jpg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8.jpg"/><Relationship Id="rId3" Type="http://schemas.openxmlformats.org/officeDocument/2006/relationships/image" Target="../media/image147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0539" y="3284221"/>
            <a:ext cx="649414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Arial MT"/>
                <a:cs typeface="Arial MT"/>
              </a:rPr>
              <a:t>Prototyping,</a:t>
            </a:r>
            <a:r>
              <a:rPr dirty="0" sz="3200" spc="-10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engineering</a:t>
            </a:r>
            <a:r>
              <a:rPr dirty="0" sz="3200" spc="-9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and</a:t>
            </a:r>
            <a:r>
              <a:rPr dirty="0" sz="3200" spc="-100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design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50539" y="3809491"/>
            <a:ext cx="2054860" cy="0"/>
          </a:xfrm>
          <a:custGeom>
            <a:avLst/>
            <a:gdLst/>
            <a:ahLst/>
            <a:cxnLst/>
            <a:rect l="l" t="t" r="r" b="b"/>
            <a:pathLst>
              <a:path w="2054860" h="0">
                <a:moveTo>
                  <a:pt x="0" y="0"/>
                </a:moveTo>
                <a:lnTo>
                  <a:pt x="2054861" y="1"/>
                </a:lnTo>
              </a:path>
            </a:pathLst>
          </a:custGeom>
          <a:ln w="9525">
            <a:solidFill>
              <a:srgbClr val="4A7EBB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31984" y="450824"/>
            <a:ext cx="4321175" cy="2626995"/>
            <a:chOff x="431984" y="450824"/>
            <a:chExt cx="4321175" cy="262699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1984" y="450824"/>
              <a:ext cx="4321168" cy="133985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69666" y="1810143"/>
              <a:ext cx="1267076" cy="1267066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510724" y="3092196"/>
            <a:ext cx="8277225" cy="1522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0" b="1">
                <a:latin typeface="Calibri"/>
                <a:cs typeface="Calibri"/>
              </a:rPr>
              <a:t>CUSTOM</a:t>
            </a:r>
            <a:r>
              <a:rPr dirty="0" sz="1400" spc="-40" b="1">
                <a:latin typeface="Calibri"/>
                <a:cs typeface="Calibri"/>
              </a:rPr>
              <a:t> CREATIONS</a:t>
            </a:r>
            <a:r>
              <a:rPr dirty="0" sz="1400" spc="-5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own</a:t>
            </a:r>
            <a:r>
              <a:rPr dirty="0" sz="1400" spc="-5" b="1">
                <a:latin typeface="Calibri"/>
                <a:cs typeface="Calibri"/>
              </a:rPr>
              <a:t> </a:t>
            </a:r>
            <a:r>
              <a:rPr dirty="0" sz="1400" spc="-30" b="1">
                <a:latin typeface="Calibri"/>
                <a:cs typeface="Calibri"/>
              </a:rPr>
              <a:t>prototype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department</a:t>
            </a:r>
            <a:r>
              <a:rPr dirty="0" sz="1400" spc="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in</a:t>
            </a:r>
            <a:r>
              <a:rPr dirty="0" sz="1400" spc="-1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Croatia,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00"/>
              </a:spcBef>
            </a:pPr>
            <a:r>
              <a:rPr dirty="0" sz="1400">
                <a:latin typeface="Calibri"/>
                <a:cs typeface="Calibri"/>
              </a:rPr>
              <a:t>-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30">
                <a:latin typeface="Calibri"/>
                <a:cs typeface="Calibri"/>
              </a:rPr>
              <a:t>company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based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Zagreb,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30">
                <a:latin typeface="Calibri"/>
                <a:cs typeface="Calibri"/>
              </a:rPr>
              <a:t>Croatia.</a:t>
            </a:r>
            <a:r>
              <a:rPr dirty="0" sz="1400" spc="-9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With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over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20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years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of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ts val="1610"/>
              </a:lnSpc>
              <a:spcBef>
                <a:spcPts val="235"/>
              </a:spcBef>
            </a:pPr>
            <a:r>
              <a:rPr dirty="0" sz="1400" spc="-30">
                <a:latin typeface="Calibri"/>
                <a:cs typeface="Calibri"/>
              </a:rPr>
              <a:t>experience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30">
                <a:latin typeface="Calibri"/>
                <a:cs typeface="Calibri"/>
              </a:rPr>
              <a:t> prototyping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from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show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cars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over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electric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motor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cycles,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Electric</a:t>
            </a:r>
            <a:r>
              <a:rPr dirty="0" sz="1400" spc="-70">
                <a:latin typeface="Calibri"/>
                <a:cs typeface="Calibri"/>
              </a:rPr>
              <a:t> </a:t>
            </a:r>
            <a:r>
              <a:rPr dirty="0" sz="1400" spc="-30">
                <a:latin typeface="Calibri"/>
                <a:cs typeface="Calibri"/>
              </a:rPr>
              <a:t>scooters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electric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bicycles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specific </a:t>
            </a:r>
            <a:r>
              <a:rPr dirty="0" sz="1400">
                <a:latin typeface="Calibri"/>
                <a:cs typeface="Calibri"/>
              </a:rPr>
              <a:t>parts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robotics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machine.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Currently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8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employees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production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ts val="1565"/>
              </a:lnSpc>
            </a:pP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two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30">
                <a:latin typeface="Calibri"/>
                <a:cs typeface="Calibri"/>
              </a:rPr>
              <a:t>engineers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for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30">
                <a:latin typeface="Calibri"/>
                <a:cs typeface="Calibri"/>
              </a:rPr>
              <a:t>drawings,</a:t>
            </a:r>
            <a:r>
              <a:rPr dirty="0" sz="1400" spc="-7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makes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Custom</a:t>
            </a:r>
            <a:r>
              <a:rPr dirty="0" sz="1400" spc="-7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creations</a:t>
            </a:r>
            <a:r>
              <a:rPr dirty="0" sz="1400" spc="2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very</a:t>
            </a:r>
            <a:r>
              <a:rPr dirty="0" sz="1400" spc="24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reliable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partner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for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30">
                <a:latin typeface="Calibri"/>
                <a:cs typeface="Calibri"/>
              </a:rPr>
              <a:t>prototyping</a:t>
            </a:r>
            <a:r>
              <a:rPr dirty="0" sz="1400" spc="-70">
                <a:latin typeface="Calibri"/>
                <a:cs typeface="Calibri"/>
              </a:rPr>
              <a:t> </a:t>
            </a:r>
            <a:r>
              <a:rPr dirty="0" sz="1400" spc="-50"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400">
                <a:latin typeface="Calibri"/>
                <a:cs typeface="Calibri"/>
              </a:rPr>
              <a:t>Full</a:t>
            </a:r>
            <a:r>
              <a:rPr dirty="0" sz="1400" spc="-20">
                <a:latin typeface="Calibri"/>
                <a:cs typeface="Calibri"/>
              </a:rPr>
              <a:t> engineering team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for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electric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vehicles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10724" y="4783835"/>
            <a:ext cx="3284854" cy="1887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630"/>
              </a:lnSpc>
              <a:spcBef>
                <a:spcPts val="100"/>
              </a:spcBef>
            </a:pPr>
            <a:r>
              <a:rPr dirty="0" sz="1400">
                <a:latin typeface="Calibri"/>
                <a:cs typeface="Calibri"/>
              </a:rPr>
              <a:t>Some</a:t>
            </a:r>
            <a:r>
              <a:rPr dirty="0" sz="1400" spc="-7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of</a:t>
            </a:r>
            <a:r>
              <a:rPr dirty="0" sz="1400" spc="-7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technic</a:t>
            </a:r>
            <a:r>
              <a:rPr dirty="0" sz="1400" spc="1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we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use</a:t>
            </a:r>
            <a:r>
              <a:rPr dirty="0" sz="1400" spc="-7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are:</a:t>
            </a:r>
            <a:endParaRPr sz="1400">
              <a:latin typeface="Calibri"/>
              <a:cs typeface="Calibri"/>
            </a:endParaRPr>
          </a:p>
          <a:p>
            <a:pPr marL="178435" indent="-165735">
              <a:lnSpc>
                <a:spcPts val="1630"/>
              </a:lnSpc>
              <a:buChar char="-"/>
              <a:tabLst>
                <a:tab pos="178435" algn="l"/>
              </a:tabLst>
            </a:pPr>
            <a:r>
              <a:rPr dirty="0" sz="1400">
                <a:latin typeface="Calibri"/>
                <a:cs typeface="Calibri"/>
              </a:rPr>
              <a:t>CNC</a:t>
            </a:r>
            <a:r>
              <a:rPr dirty="0" sz="1400" spc="2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milling</a:t>
            </a:r>
            <a:endParaRPr sz="1400">
              <a:latin typeface="Calibri"/>
              <a:cs typeface="Calibri"/>
            </a:endParaRPr>
          </a:p>
          <a:p>
            <a:pPr marL="178435" indent="-165735">
              <a:lnSpc>
                <a:spcPct val="100000"/>
              </a:lnSpc>
              <a:spcBef>
                <a:spcPts val="20"/>
              </a:spcBef>
              <a:buChar char="-"/>
              <a:tabLst>
                <a:tab pos="178435" algn="l"/>
              </a:tabLst>
            </a:pPr>
            <a:r>
              <a:rPr dirty="0" sz="1400">
                <a:latin typeface="Calibri"/>
                <a:cs typeface="Calibri"/>
              </a:rPr>
              <a:t>3D</a:t>
            </a:r>
            <a:r>
              <a:rPr dirty="0" sz="1400" spc="-7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printing</a:t>
            </a:r>
            <a:endParaRPr sz="1400">
              <a:latin typeface="Calibri"/>
              <a:cs typeface="Calibri"/>
            </a:endParaRPr>
          </a:p>
          <a:p>
            <a:pPr marL="178435" indent="-165735">
              <a:lnSpc>
                <a:spcPts val="1645"/>
              </a:lnSpc>
              <a:spcBef>
                <a:spcPts val="25"/>
              </a:spcBef>
              <a:buChar char="-"/>
              <a:tabLst>
                <a:tab pos="178435" algn="l"/>
              </a:tabLst>
            </a:pPr>
            <a:r>
              <a:rPr dirty="0" sz="1400">
                <a:latin typeface="Calibri"/>
                <a:cs typeface="Calibri"/>
              </a:rPr>
              <a:t>Tooling</a:t>
            </a:r>
            <a:r>
              <a:rPr dirty="0" sz="1400" spc="20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production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(aluminium,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NECUMER)</a:t>
            </a:r>
            <a:endParaRPr sz="1400">
              <a:latin typeface="Calibri"/>
              <a:cs typeface="Calibri"/>
            </a:endParaRPr>
          </a:p>
          <a:p>
            <a:pPr marL="178435" indent="-165735">
              <a:lnSpc>
                <a:spcPts val="1595"/>
              </a:lnSpc>
              <a:buChar char="-"/>
              <a:tabLst>
                <a:tab pos="178435" algn="l"/>
              </a:tabLst>
            </a:pPr>
            <a:r>
              <a:rPr dirty="0" sz="1400" spc="-10">
                <a:latin typeface="Calibri"/>
                <a:cs typeface="Calibri"/>
              </a:rPr>
              <a:t>RTM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process</a:t>
            </a:r>
            <a:r>
              <a:rPr dirty="0" sz="1400" spc="18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carbon</a:t>
            </a:r>
            <a:r>
              <a:rPr dirty="0" sz="1400" spc="-7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fiber)</a:t>
            </a:r>
            <a:endParaRPr sz="1400">
              <a:latin typeface="Calibri"/>
              <a:cs typeface="Calibri"/>
            </a:endParaRPr>
          </a:p>
          <a:p>
            <a:pPr marL="178435" indent="-165735">
              <a:lnSpc>
                <a:spcPts val="1595"/>
              </a:lnSpc>
              <a:buChar char="-"/>
              <a:tabLst>
                <a:tab pos="178435" algn="l"/>
              </a:tabLst>
            </a:pPr>
            <a:r>
              <a:rPr dirty="0" sz="1400" spc="-30">
                <a:latin typeface="Calibri"/>
                <a:cs typeface="Calibri"/>
              </a:rPr>
              <a:t>Vacum</a:t>
            </a:r>
            <a:r>
              <a:rPr dirty="0" sz="1400" spc="-9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infusion</a:t>
            </a:r>
            <a:r>
              <a:rPr dirty="0" sz="1400" spc="19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(carbon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fiber</a:t>
            </a:r>
            <a:r>
              <a:rPr dirty="0" sz="1400" spc="-50">
                <a:latin typeface="Calibri"/>
                <a:cs typeface="Calibri"/>
              </a:rPr>
              <a:t> )</a:t>
            </a:r>
            <a:endParaRPr sz="1400">
              <a:latin typeface="Calibri"/>
              <a:cs typeface="Calibri"/>
            </a:endParaRPr>
          </a:p>
          <a:p>
            <a:pPr marL="178435" indent="-165735">
              <a:lnSpc>
                <a:spcPts val="1610"/>
              </a:lnSpc>
              <a:buChar char="-"/>
              <a:tabLst>
                <a:tab pos="178435" algn="l"/>
              </a:tabLst>
            </a:pPr>
            <a:r>
              <a:rPr dirty="0" sz="1400" spc="-30">
                <a:latin typeface="Calibri"/>
                <a:cs typeface="Calibri"/>
              </a:rPr>
              <a:t>Autoclave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process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 carbon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 spc="-35">
                <a:latin typeface="Calibri"/>
                <a:cs typeface="Calibri"/>
              </a:rPr>
              <a:t>fiber,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partner)</a:t>
            </a:r>
            <a:endParaRPr sz="1400">
              <a:latin typeface="Calibri"/>
              <a:cs typeface="Calibri"/>
            </a:endParaRPr>
          </a:p>
          <a:p>
            <a:pPr marL="178435" indent="-165735">
              <a:lnSpc>
                <a:spcPts val="1595"/>
              </a:lnSpc>
              <a:buChar char="-"/>
              <a:tabLst>
                <a:tab pos="178435" algn="l"/>
              </a:tabLst>
            </a:pPr>
            <a:r>
              <a:rPr dirty="0" sz="1400" spc="-10">
                <a:latin typeface="Calibri"/>
                <a:cs typeface="Calibri"/>
              </a:rPr>
              <a:t>Glass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fiber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molds</a:t>
            </a:r>
            <a:endParaRPr sz="1400">
              <a:latin typeface="Calibri"/>
              <a:cs typeface="Calibri"/>
            </a:endParaRPr>
          </a:p>
          <a:p>
            <a:pPr marL="178435" indent="-165735">
              <a:lnSpc>
                <a:spcPts val="1630"/>
              </a:lnSpc>
              <a:buChar char="-"/>
              <a:tabLst>
                <a:tab pos="178435" algn="l"/>
              </a:tabLst>
            </a:pPr>
            <a:r>
              <a:rPr dirty="0" sz="1400">
                <a:latin typeface="Calibri"/>
                <a:cs typeface="Calibri"/>
              </a:rPr>
              <a:t>Own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Autoclave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oven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5525770" y="209626"/>
            <a:ext cx="6362065" cy="4949190"/>
            <a:chOff x="5525770" y="209626"/>
            <a:chExt cx="6362065" cy="4949190"/>
          </a:xfrm>
        </p:grpSpPr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25770" y="209626"/>
              <a:ext cx="4983353" cy="3110039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03931" y="2639568"/>
              <a:ext cx="2583802" cy="2519210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10587863" y="1931923"/>
            <a:ext cx="1517650" cy="57721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dirty="0" sz="1200" spc="-10" i="1">
                <a:latin typeface="Calibri"/>
                <a:cs typeface="Calibri"/>
              </a:rPr>
              <a:t>Asbjoerk</a:t>
            </a:r>
            <a:r>
              <a:rPr dirty="0" sz="1200" spc="-15" i="1">
                <a:latin typeface="Calibri"/>
                <a:cs typeface="Calibri"/>
              </a:rPr>
              <a:t> </a:t>
            </a:r>
            <a:r>
              <a:rPr dirty="0" sz="1200" spc="-10" i="1">
                <a:latin typeface="Calibri"/>
                <a:cs typeface="Calibri"/>
              </a:rPr>
              <a:t>Mogensen Design</a:t>
            </a:r>
            <a:r>
              <a:rPr dirty="0" sz="1200" spc="-50" i="1">
                <a:latin typeface="Calibri"/>
                <a:cs typeface="Calibri"/>
              </a:rPr>
              <a:t> </a:t>
            </a:r>
            <a:r>
              <a:rPr dirty="0" sz="1200" spc="-20" i="1">
                <a:latin typeface="Calibri"/>
                <a:cs typeface="Calibri"/>
              </a:rPr>
              <a:t>Director</a:t>
            </a:r>
            <a:r>
              <a:rPr dirty="0" sz="1200" spc="-4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COO</a:t>
            </a:r>
            <a:r>
              <a:rPr dirty="0" sz="1200" spc="-15" i="1">
                <a:latin typeface="Calibri"/>
                <a:cs typeface="Calibri"/>
              </a:rPr>
              <a:t> </a:t>
            </a:r>
            <a:r>
              <a:rPr dirty="0" sz="1200" spc="-25" i="1">
                <a:latin typeface="Calibri"/>
                <a:cs typeface="Calibri"/>
              </a:rPr>
              <a:t>and </a:t>
            </a:r>
            <a:r>
              <a:rPr dirty="0" sz="1200" spc="-10" i="1">
                <a:latin typeface="Calibri"/>
                <a:cs typeface="Calibri"/>
              </a:rPr>
              <a:t>Part</a:t>
            </a:r>
            <a:r>
              <a:rPr dirty="0" sz="1200" spc="-55" i="1">
                <a:latin typeface="Calibri"/>
                <a:cs typeface="Calibri"/>
              </a:rPr>
              <a:t> </a:t>
            </a:r>
            <a:r>
              <a:rPr dirty="0" sz="1200" spc="-10" i="1">
                <a:latin typeface="Calibri"/>
                <a:cs typeface="Calibri"/>
              </a:rPr>
              <a:t>owner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557890" y="1925828"/>
            <a:ext cx="858519" cy="7543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05"/>
              </a:spcBef>
            </a:pPr>
            <a:r>
              <a:rPr dirty="0" sz="1200" spc="-10" i="1">
                <a:latin typeface="Calibri"/>
                <a:cs typeface="Calibri"/>
              </a:rPr>
              <a:t>Luka</a:t>
            </a:r>
            <a:r>
              <a:rPr dirty="0" sz="1200" spc="-55" i="1">
                <a:latin typeface="Calibri"/>
                <a:cs typeface="Calibri"/>
              </a:rPr>
              <a:t> </a:t>
            </a:r>
            <a:r>
              <a:rPr dirty="0" sz="1200" spc="-10" i="1">
                <a:latin typeface="Calibri"/>
                <a:cs typeface="Calibri"/>
              </a:rPr>
              <a:t>Jelaska </a:t>
            </a:r>
            <a:r>
              <a:rPr dirty="0" sz="1200" spc="-20" i="1">
                <a:latin typeface="Calibri"/>
                <a:cs typeface="Calibri"/>
              </a:rPr>
              <a:t>Autocad</a:t>
            </a:r>
            <a:r>
              <a:rPr dirty="0" sz="1200" spc="5" i="1">
                <a:latin typeface="Calibri"/>
                <a:cs typeface="Calibri"/>
              </a:rPr>
              <a:t> </a:t>
            </a:r>
            <a:r>
              <a:rPr dirty="0" sz="1200" spc="-25" i="1">
                <a:latin typeface="Calibri"/>
                <a:cs typeface="Calibri"/>
              </a:rPr>
              <a:t>and </a:t>
            </a:r>
            <a:r>
              <a:rPr dirty="0" sz="1200" i="1">
                <a:latin typeface="Calibri"/>
                <a:cs typeface="Calibri"/>
              </a:rPr>
              <a:t>3D</a:t>
            </a:r>
            <a:r>
              <a:rPr dirty="0" sz="1200" spc="-45" i="1">
                <a:latin typeface="Calibri"/>
                <a:cs typeface="Calibri"/>
              </a:rPr>
              <a:t> </a:t>
            </a:r>
            <a:r>
              <a:rPr dirty="0" sz="1200" spc="-25" i="1">
                <a:latin typeface="Calibri"/>
                <a:cs typeface="Calibri"/>
              </a:rPr>
              <a:t>solidworks </a:t>
            </a:r>
            <a:r>
              <a:rPr dirty="0" sz="1200" spc="-10" i="1">
                <a:latin typeface="Calibri"/>
                <a:cs typeface="Calibri"/>
              </a:rPr>
              <a:t>designer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9630956" y="5153659"/>
            <a:ext cx="18840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i="1">
                <a:latin typeface="Calibri"/>
                <a:cs typeface="Calibri"/>
              </a:rPr>
              <a:t>Founder</a:t>
            </a:r>
            <a:r>
              <a:rPr dirty="0" sz="1200" spc="-4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and</a:t>
            </a:r>
            <a:r>
              <a:rPr dirty="0" sz="1200" spc="-65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Ceo</a:t>
            </a:r>
            <a:r>
              <a:rPr dirty="0" sz="1200" spc="-55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and</a:t>
            </a:r>
            <a:r>
              <a:rPr dirty="0" sz="1200" spc="-60" i="1">
                <a:latin typeface="Calibri"/>
                <a:cs typeface="Calibri"/>
              </a:rPr>
              <a:t> </a:t>
            </a:r>
            <a:r>
              <a:rPr dirty="0" sz="1200" spc="-10" i="1">
                <a:latin typeface="Calibri"/>
                <a:cs typeface="Calibri"/>
              </a:rPr>
              <a:t>Sasa</a:t>
            </a:r>
            <a:r>
              <a:rPr dirty="0" sz="1200" spc="-50" i="1">
                <a:latin typeface="Calibri"/>
                <a:cs typeface="Calibri"/>
              </a:rPr>
              <a:t> </a:t>
            </a:r>
            <a:r>
              <a:rPr dirty="0" sz="1200" spc="-20" i="1">
                <a:latin typeface="Calibri"/>
                <a:cs typeface="Calibri"/>
              </a:rPr>
              <a:t>Stih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4419320" y="5476176"/>
            <a:ext cx="3440429" cy="1064895"/>
            <a:chOff x="4419320" y="5476176"/>
            <a:chExt cx="3440429" cy="1064895"/>
          </a:xfrm>
        </p:grpSpPr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39394" y="5524200"/>
              <a:ext cx="1119733" cy="1016374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64886" y="5496052"/>
              <a:ext cx="1145574" cy="1033260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19320" y="5476176"/>
              <a:ext cx="1145565" cy="1033259"/>
            </a:xfrm>
            <a:prstGeom prst="rect">
              <a:avLst/>
            </a:prstGeom>
          </p:spPr>
        </p:pic>
      </p:grpSp>
      <p:pic>
        <p:nvPicPr>
          <p:cNvPr id="17" name="object 17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912341" y="5545077"/>
            <a:ext cx="1119733" cy="1016374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2242070" y="2099564"/>
            <a:ext cx="745490" cy="39751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03299"/>
              </a:lnSpc>
              <a:spcBef>
                <a:spcPts val="50"/>
              </a:spcBef>
            </a:pPr>
            <a:r>
              <a:rPr dirty="0" sz="1200" spc="-10" i="1">
                <a:latin typeface="Calibri"/>
                <a:cs typeface="Calibri"/>
              </a:rPr>
              <a:t>Ivan</a:t>
            </a:r>
            <a:r>
              <a:rPr dirty="0" sz="1200" spc="-35" i="1">
                <a:latin typeface="Calibri"/>
                <a:cs typeface="Calibri"/>
              </a:rPr>
              <a:t> </a:t>
            </a:r>
            <a:r>
              <a:rPr dirty="0" sz="1200" spc="-10" i="1">
                <a:latin typeface="Calibri"/>
                <a:cs typeface="Calibri"/>
              </a:rPr>
              <a:t>Zhurba Designer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5796" y="1177034"/>
            <a:ext cx="113538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0" b="1">
                <a:latin typeface="Calibri"/>
                <a:cs typeface="Calibri"/>
              </a:rPr>
              <a:t>Awards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206" y="5841659"/>
            <a:ext cx="2135238" cy="851253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34789" y="156264"/>
            <a:ext cx="1062821" cy="106282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69450" y="138112"/>
            <a:ext cx="728341" cy="11049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12705" y="4621710"/>
            <a:ext cx="2069706" cy="211151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69059" y="162040"/>
            <a:ext cx="1724659" cy="1057045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5270880" y="164263"/>
            <a:ext cx="2292350" cy="1228725"/>
            <a:chOff x="5270880" y="164263"/>
            <a:chExt cx="2292350" cy="1228725"/>
          </a:xfrm>
        </p:grpSpPr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70880" y="164263"/>
              <a:ext cx="2292261" cy="1228291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6274117" y="956005"/>
              <a:ext cx="1227455" cy="382270"/>
            </a:xfrm>
            <a:custGeom>
              <a:avLst/>
              <a:gdLst/>
              <a:ahLst/>
              <a:cxnLst/>
              <a:rect l="l" t="t" r="r" b="b"/>
              <a:pathLst>
                <a:path w="1227454" h="382269">
                  <a:moveTo>
                    <a:pt x="1227442" y="0"/>
                  </a:moveTo>
                  <a:lnTo>
                    <a:pt x="0" y="0"/>
                  </a:lnTo>
                  <a:lnTo>
                    <a:pt x="0" y="381990"/>
                  </a:lnTo>
                  <a:lnTo>
                    <a:pt x="1227442" y="381990"/>
                  </a:lnTo>
                  <a:lnTo>
                    <a:pt x="12274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274117" y="956005"/>
              <a:ext cx="1227455" cy="382270"/>
            </a:xfrm>
            <a:custGeom>
              <a:avLst/>
              <a:gdLst/>
              <a:ahLst/>
              <a:cxnLst/>
              <a:rect l="l" t="t" r="r" b="b"/>
              <a:pathLst>
                <a:path w="1227454" h="382269">
                  <a:moveTo>
                    <a:pt x="0" y="0"/>
                  </a:moveTo>
                  <a:lnTo>
                    <a:pt x="1227440" y="0"/>
                  </a:lnTo>
                  <a:lnTo>
                    <a:pt x="1227440" y="381995"/>
                  </a:lnTo>
                  <a:lnTo>
                    <a:pt x="0" y="38199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" name="object 1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369028" y="202794"/>
            <a:ext cx="763979" cy="1201736"/>
          </a:xfrm>
          <a:prstGeom prst="rect">
            <a:avLst/>
          </a:prstGeom>
        </p:spPr>
      </p:pic>
      <p:grpSp>
        <p:nvGrpSpPr>
          <p:cNvPr id="13" name="object 13" descr=""/>
          <p:cNvGrpSpPr/>
          <p:nvPr/>
        </p:nvGrpSpPr>
        <p:grpSpPr>
          <a:xfrm>
            <a:off x="3310242" y="5528373"/>
            <a:ext cx="3049270" cy="1266825"/>
            <a:chOff x="3310242" y="5528373"/>
            <a:chExt cx="3049270" cy="1266825"/>
          </a:xfrm>
        </p:grpSpPr>
        <p:pic>
          <p:nvPicPr>
            <p:cNvPr id="14" name="object 1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10242" y="5528373"/>
              <a:ext cx="1016000" cy="1104891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24248" y="5681996"/>
              <a:ext cx="2135251" cy="1113015"/>
            </a:xfrm>
            <a:prstGeom prst="rect">
              <a:avLst/>
            </a:prstGeom>
          </p:spPr>
        </p:pic>
      </p:grpSp>
      <p:pic>
        <p:nvPicPr>
          <p:cNvPr id="16" name="object 16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434564" y="356480"/>
            <a:ext cx="1692694" cy="688361"/>
          </a:xfrm>
          <a:prstGeom prst="rect">
            <a:avLst/>
          </a:prstGeom>
        </p:spPr>
      </p:pic>
      <p:grpSp>
        <p:nvGrpSpPr>
          <p:cNvPr id="17" name="object 17" descr=""/>
          <p:cNvGrpSpPr/>
          <p:nvPr/>
        </p:nvGrpSpPr>
        <p:grpSpPr>
          <a:xfrm>
            <a:off x="1318234" y="143106"/>
            <a:ext cx="1055370" cy="1076325"/>
            <a:chOff x="1318234" y="143106"/>
            <a:chExt cx="1055370" cy="1076325"/>
          </a:xfrm>
        </p:grpSpPr>
        <p:pic>
          <p:nvPicPr>
            <p:cNvPr id="18" name="object 1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18234" y="143106"/>
              <a:ext cx="1054887" cy="1075979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1744979" y="803666"/>
              <a:ext cx="201930" cy="96520"/>
            </a:xfrm>
            <a:custGeom>
              <a:avLst/>
              <a:gdLst/>
              <a:ahLst/>
              <a:cxnLst/>
              <a:rect l="l" t="t" r="r" b="b"/>
              <a:pathLst>
                <a:path w="201930" h="96519">
                  <a:moveTo>
                    <a:pt x="201409" y="0"/>
                  </a:moveTo>
                  <a:lnTo>
                    <a:pt x="0" y="0"/>
                  </a:lnTo>
                  <a:lnTo>
                    <a:pt x="0" y="96216"/>
                  </a:lnTo>
                  <a:lnTo>
                    <a:pt x="201409" y="96216"/>
                  </a:lnTo>
                  <a:lnTo>
                    <a:pt x="2014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744979" y="803668"/>
              <a:ext cx="201930" cy="96520"/>
            </a:xfrm>
            <a:custGeom>
              <a:avLst/>
              <a:gdLst/>
              <a:ahLst/>
              <a:cxnLst/>
              <a:rect l="l" t="t" r="r" b="b"/>
              <a:pathLst>
                <a:path w="201930" h="96519">
                  <a:moveTo>
                    <a:pt x="0" y="0"/>
                  </a:moveTo>
                  <a:lnTo>
                    <a:pt x="201410" y="0"/>
                  </a:lnTo>
                  <a:lnTo>
                    <a:pt x="201410" y="96227"/>
                  </a:lnTo>
                  <a:lnTo>
                    <a:pt x="0" y="9622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1" name="object 21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13656" y="15709"/>
            <a:ext cx="493052" cy="1244752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725796" y="1726692"/>
            <a:ext cx="2755265" cy="3832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Calibri"/>
                <a:cs typeface="Calibri"/>
              </a:rPr>
              <a:t>WINNER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OF:</a:t>
            </a:r>
            <a:endParaRPr sz="1400">
              <a:latin typeface="Calibri"/>
              <a:cs typeface="Calibri"/>
            </a:endParaRPr>
          </a:p>
          <a:p>
            <a:pPr marL="12700" marR="668655">
              <a:lnSpc>
                <a:spcPct val="100000"/>
              </a:lnSpc>
              <a:spcBef>
                <a:spcPts val="25"/>
              </a:spcBef>
            </a:pPr>
            <a:r>
              <a:rPr dirty="0" sz="1400" spc="-10">
                <a:latin typeface="Calibri"/>
                <a:cs typeface="Calibri"/>
              </a:rPr>
              <a:t>1</a:t>
            </a:r>
            <a:r>
              <a:rPr dirty="0" sz="1400" spc="-7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x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Muse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design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40">
                <a:latin typeface="Calibri"/>
                <a:cs typeface="Calibri"/>
              </a:rPr>
              <a:t>Award</a:t>
            </a:r>
            <a:r>
              <a:rPr dirty="0" sz="1400" spc="-10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GOLD </a:t>
            </a:r>
            <a:r>
              <a:rPr dirty="0" sz="1400">
                <a:latin typeface="Calibri"/>
                <a:cs typeface="Calibri"/>
              </a:rPr>
              <a:t>4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x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IF</a:t>
            </a:r>
            <a:r>
              <a:rPr dirty="0" sz="1400" spc="-7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Awards</a:t>
            </a:r>
            <a:endParaRPr sz="1400">
              <a:latin typeface="Calibri"/>
              <a:cs typeface="Calibri"/>
            </a:endParaRPr>
          </a:p>
          <a:p>
            <a:pPr marL="12700" marR="635000">
              <a:lnSpc>
                <a:spcPts val="1610"/>
              </a:lnSpc>
              <a:spcBef>
                <a:spcPts val="229"/>
              </a:spcBef>
            </a:pPr>
            <a:r>
              <a:rPr dirty="0" sz="1400">
                <a:latin typeface="Calibri"/>
                <a:cs typeface="Calibri"/>
              </a:rPr>
              <a:t>4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x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Red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Dot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design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Awards</a:t>
            </a:r>
            <a:r>
              <a:rPr dirty="0" sz="1400" spc="50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16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x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30">
                <a:latin typeface="Calibri"/>
                <a:cs typeface="Calibri"/>
              </a:rPr>
              <a:t>German</a:t>
            </a:r>
            <a:r>
              <a:rPr dirty="0" sz="1400" spc="-7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Design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Awards</a:t>
            </a:r>
            <a:r>
              <a:rPr dirty="0" sz="1400" spc="50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3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x</a:t>
            </a:r>
            <a:r>
              <a:rPr dirty="0" sz="1400" spc="10">
                <a:latin typeface="Calibri"/>
                <a:cs typeface="Calibri"/>
              </a:rPr>
              <a:t> </a:t>
            </a:r>
            <a:r>
              <a:rPr dirty="0" sz="1400" spc="-30">
                <a:latin typeface="Calibri"/>
                <a:cs typeface="Calibri"/>
              </a:rPr>
              <a:t>German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30">
                <a:latin typeface="Calibri"/>
                <a:cs typeface="Calibri"/>
              </a:rPr>
              <a:t>Innovation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Award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ts val="1540"/>
              </a:lnSpc>
            </a:pPr>
            <a:r>
              <a:rPr dirty="0" sz="1400">
                <a:latin typeface="Calibri"/>
                <a:cs typeface="Calibri"/>
              </a:rPr>
              <a:t>2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x</a:t>
            </a:r>
            <a:r>
              <a:rPr dirty="0" sz="1400" spc="20">
                <a:latin typeface="Calibri"/>
                <a:cs typeface="Calibri"/>
              </a:rPr>
              <a:t> </a:t>
            </a:r>
            <a:r>
              <a:rPr dirty="0" sz="1400" spc="-30">
                <a:latin typeface="Calibri"/>
                <a:cs typeface="Calibri"/>
              </a:rPr>
              <a:t>German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30">
                <a:latin typeface="Calibri"/>
                <a:cs typeface="Calibri"/>
              </a:rPr>
              <a:t>Brand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30">
                <a:latin typeface="Calibri"/>
                <a:cs typeface="Calibri"/>
              </a:rPr>
              <a:t>Awareness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Award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ts val="1610"/>
              </a:lnSpc>
              <a:spcBef>
                <a:spcPts val="135"/>
              </a:spcBef>
            </a:pPr>
            <a:r>
              <a:rPr dirty="0" sz="1400">
                <a:latin typeface="Calibri"/>
                <a:cs typeface="Calibri"/>
              </a:rPr>
              <a:t>1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x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 spc="-30">
                <a:latin typeface="Calibri"/>
                <a:cs typeface="Calibri"/>
              </a:rPr>
              <a:t>German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Automotive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Brand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Contest </a:t>
            </a:r>
            <a:r>
              <a:rPr dirty="0" sz="1400">
                <a:latin typeface="Calibri"/>
                <a:cs typeface="Calibri"/>
              </a:rPr>
              <a:t>3x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German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Bicycle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35">
                <a:latin typeface="Calibri"/>
                <a:cs typeface="Calibri"/>
              </a:rPr>
              <a:t>brand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contest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ts val="1565"/>
              </a:lnSpc>
            </a:pPr>
            <a:r>
              <a:rPr dirty="0" sz="1400">
                <a:latin typeface="Calibri"/>
                <a:cs typeface="Calibri"/>
              </a:rPr>
              <a:t>22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x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A'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Design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Award</a:t>
            </a:r>
            <a:endParaRPr sz="1400">
              <a:latin typeface="Calibri"/>
              <a:cs typeface="Calibri"/>
            </a:endParaRPr>
          </a:p>
          <a:p>
            <a:pPr marL="12700" marR="1164590">
              <a:lnSpc>
                <a:spcPts val="1610"/>
              </a:lnSpc>
              <a:spcBef>
                <a:spcPts val="110"/>
              </a:spcBef>
            </a:pPr>
            <a:r>
              <a:rPr dirty="0" sz="1400">
                <a:latin typeface="Calibri"/>
                <a:cs typeface="Calibri"/>
              </a:rPr>
              <a:t>4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x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Platinum</a:t>
            </a:r>
            <a:r>
              <a:rPr dirty="0" sz="1400" spc="-9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Awards </a:t>
            </a:r>
            <a:r>
              <a:rPr dirty="0" sz="1400">
                <a:latin typeface="Calibri"/>
                <a:cs typeface="Calibri"/>
              </a:rPr>
              <a:t>6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x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Gold</a:t>
            </a:r>
            <a:r>
              <a:rPr dirty="0" sz="1400" spc="-7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Awards</a:t>
            </a:r>
            <a:endParaRPr sz="1400">
              <a:latin typeface="Calibri"/>
              <a:cs typeface="Calibri"/>
            </a:endParaRPr>
          </a:p>
          <a:p>
            <a:pPr marL="12700" marR="1323975">
              <a:lnSpc>
                <a:spcPct val="98600"/>
              </a:lnSpc>
              <a:spcBef>
                <a:spcPts val="200"/>
              </a:spcBef>
            </a:pPr>
            <a:r>
              <a:rPr dirty="0" sz="1400">
                <a:latin typeface="Calibri"/>
                <a:cs typeface="Calibri"/>
              </a:rPr>
              <a:t>4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x</a:t>
            </a:r>
            <a:r>
              <a:rPr dirty="0" sz="1400" spc="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Silver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Awards </a:t>
            </a:r>
            <a:r>
              <a:rPr dirty="0" sz="1400">
                <a:latin typeface="Calibri"/>
                <a:cs typeface="Calibri"/>
              </a:rPr>
              <a:t>2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x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45">
                <a:latin typeface="Calibri"/>
                <a:cs typeface="Calibri"/>
              </a:rPr>
              <a:t>Bronze</a:t>
            </a:r>
            <a:r>
              <a:rPr dirty="0" sz="1400" spc="-114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Awards </a:t>
            </a:r>
            <a:r>
              <a:rPr dirty="0" sz="1400">
                <a:latin typeface="Calibri"/>
                <a:cs typeface="Calibri"/>
              </a:rPr>
              <a:t>1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x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30">
                <a:latin typeface="Calibri"/>
                <a:cs typeface="Calibri"/>
              </a:rPr>
              <a:t>Iron</a:t>
            </a:r>
            <a:r>
              <a:rPr dirty="0" sz="1400" spc="-9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Awards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ts val="1550"/>
              </a:lnSpc>
            </a:pPr>
            <a:r>
              <a:rPr dirty="0" sz="1400" spc="-10">
                <a:latin typeface="Calibri"/>
                <a:cs typeface="Calibri"/>
              </a:rPr>
              <a:t>1</a:t>
            </a:r>
            <a:r>
              <a:rPr dirty="0" sz="1400" spc="-7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x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Muse</a:t>
            </a:r>
            <a:r>
              <a:rPr dirty="0" sz="1400" spc="-7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Awards</a:t>
            </a:r>
            <a:endParaRPr sz="1400">
              <a:latin typeface="Calibri"/>
              <a:cs typeface="Calibri"/>
            </a:endParaRPr>
          </a:p>
          <a:p>
            <a:pPr marL="12700" marR="782955">
              <a:lnSpc>
                <a:spcPts val="1700"/>
              </a:lnSpc>
            </a:pPr>
            <a:r>
              <a:rPr dirty="0" sz="1400">
                <a:latin typeface="Calibri"/>
                <a:cs typeface="Calibri"/>
              </a:rPr>
              <a:t>1</a:t>
            </a:r>
            <a:r>
              <a:rPr dirty="0" sz="1400" spc="-8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x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New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 spc="-55">
                <a:latin typeface="Calibri"/>
                <a:cs typeface="Calibri"/>
              </a:rPr>
              <a:t>York</a:t>
            </a:r>
            <a:r>
              <a:rPr dirty="0" sz="1400" spc="-1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design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awards </a:t>
            </a:r>
            <a:r>
              <a:rPr dirty="0" sz="1400">
                <a:latin typeface="Calibri"/>
                <a:cs typeface="Calibri"/>
              </a:rPr>
              <a:t>1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x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Ikea</a:t>
            </a:r>
            <a:r>
              <a:rPr dirty="0" sz="1400" spc="-7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award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</a:t>
            </a:r>
            <a:r>
              <a:rPr dirty="0" spc="-55"/>
              <a:t> </a:t>
            </a:r>
            <a:r>
              <a:rPr dirty="0"/>
              <a:t>x</a:t>
            </a:r>
            <a:r>
              <a:rPr dirty="0" spc="-20"/>
              <a:t> </a:t>
            </a:r>
            <a:r>
              <a:rPr dirty="0" spc="-25"/>
              <a:t>Runner</a:t>
            </a:r>
            <a:r>
              <a:rPr dirty="0" spc="-80"/>
              <a:t> </a:t>
            </a:r>
            <a:r>
              <a:rPr dirty="0"/>
              <a:t>up</a:t>
            </a:r>
            <a:r>
              <a:rPr dirty="0" spc="-40"/>
              <a:t> </a:t>
            </a:r>
            <a:r>
              <a:rPr dirty="0"/>
              <a:t>A</a:t>
            </a:r>
            <a:r>
              <a:rPr dirty="0" spc="-50"/>
              <a:t> </a:t>
            </a:r>
            <a:r>
              <a:rPr dirty="0" spc="-10"/>
              <a:t>Awards</a:t>
            </a:r>
          </a:p>
          <a:p>
            <a:pPr marL="12700" marR="3954145">
              <a:lnSpc>
                <a:spcPct val="100000"/>
              </a:lnSpc>
              <a:spcBef>
                <a:spcPts val="25"/>
              </a:spcBef>
            </a:pPr>
            <a:r>
              <a:rPr dirty="0"/>
              <a:t>4</a:t>
            </a:r>
            <a:r>
              <a:rPr dirty="0" spc="-30"/>
              <a:t> </a:t>
            </a:r>
            <a:r>
              <a:rPr dirty="0"/>
              <a:t>x</a:t>
            </a:r>
            <a:r>
              <a:rPr dirty="0" spc="-10"/>
              <a:t> </a:t>
            </a:r>
            <a:r>
              <a:rPr dirty="0" spc="-30"/>
              <a:t>Universal</a:t>
            </a:r>
            <a:r>
              <a:rPr dirty="0" spc="-50"/>
              <a:t> </a:t>
            </a:r>
            <a:r>
              <a:rPr dirty="0" spc="-20"/>
              <a:t>Design</a:t>
            </a:r>
            <a:r>
              <a:rPr dirty="0" spc="-40"/>
              <a:t> </a:t>
            </a:r>
            <a:r>
              <a:rPr dirty="0" spc="-10"/>
              <a:t>Awards </a:t>
            </a:r>
            <a:r>
              <a:rPr dirty="0"/>
              <a:t>6</a:t>
            </a:r>
            <a:r>
              <a:rPr dirty="0" spc="-65"/>
              <a:t> </a:t>
            </a:r>
            <a:r>
              <a:rPr dirty="0"/>
              <a:t>x</a:t>
            </a:r>
            <a:r>
              <a:rPr dirty="0" spc="-35"/>
              <a:t> </a:t>
            </a:r>
            <a:r>
              <a:rPr dirty="0" spc="-30"/>
              <a:t>European</a:t>
            </a:r>
            <a:r>
              <a:rPr dirty="0" spc="-80"/>
              <a:t> </a:t>
            </a:r>
            <a:r>
              <a:rPr dirty="0"/>
              <a:t>design</a:t>
            </a:r>
            <a:r>
              <a:rPr dirty="0" spc="-30"/>
              <a:t> </a:t>
            </a:r>
            <a:r>
              <a:rPr dirty="0" spc="-10"/>
              <a:t>Award</a:t>
            </a:r>
          </a:p>
          <a:p>
            <a:pPr marL="12700" marR="3796665">
              <a:lnSpc>
                <a:spcPts val="1610"/>
              </a:lnSpc>
              <a:spcBef>
                <a:spcPts val="40"/>
              </a:spcBef>
            </a:pPr>
            <a:r>
              <a:rPr dirty="0"/>
              <a:t>6</a:t>
            </a:r>
            <a:r>
              <a:rPr dirty="0" spc="-45"/>
              <a:t> </a:t>
            </a:r>
            <a:r>
              <a:rPr dirty="0"/>
              <a:t>x</a:t>
            </a:r>
            <a:r>
              <a:rPr dirty="0" spc="-25"/>
              <a:t> </a:t>
            </a:r>
            <a:r>
              <a:rPr dirty="0" spc="-30"/>
              <a:t>International</a:t>
            </a:r>
            <a:r>
              <a:rPr dirty="0" spc="-70"/>
              <a:t> </a:t>
            </a:r>
            <a:r>
              <a:rPr dirty="0"/>
              <a:t>design</a:t>
            </a:r>
            <a:r>
              <a:rPr dirty="0" spc="-25"/>
              <a:t> </a:t>
            </a:r>
            <a:r>
              <a:rPr dirty="0" spc="-20"/>
              <a:t>award </a:t>
            </a:r>
            <a:r>
              <a:rPr dirty="0"/>
              <a:t>2x</a:t>
            </a:r>
            <a:r>
              <a:rPr dirty="0" spc="-15"/>
              <a:t> </a:t>
            </a:r>
            <a:r>
              <a:rPr dirty="0" spc="-20"/>
              <a:t>Bicycle</a:t>
            </a:r>
            <a:r>
              <a:rPr dirty="0" spc="-40"/>
              <a:t> </a:t>
            </a:r>
            <a:r>
              <a:rPr dirty="0" spc="-30"/>
              <a:t>brand</a:t>
            </a:r>
            <a:r>
              <a:rPr dirty="0" spc="-70"/>
              <a:t> </a:t>
            </a:r>
            <a:r>
              <a:rPr dirty="0" spc="-10"/>
              <a:t>Contest</a:t>
            </a:r>
          </a:p>
          <a:p>
            <a:pPr marL="12700">
              <a:lnSpc>
                <a:spcPts val="1410"/>
              </a:lnSpc>
            </a:pPr>
            <a:r>
              <a:rPr dirty="0"/>
              <a:t>16</a:t>
            </a:r>
            <a:r>
              <a:rPr dirty="0" spc="-35"/>
              <a:t> </a:t>
            </a:r>
            <a:r>
              <a:rPr dirty="0"/>
              <a:t>x</a:t>
            </a:r>
            <a:r>
              <a:rPr dirty="0" spc="-5"/>
              <a:t> </a:t>
            </a:r>
            <a:r>
              <a:rPr dirty="0" spc="-40"/>
              <a:t>Eurobike</a:t>
            </a:r>
            <a:r>
              <a:rPr dirty="0" spc="-85"/>
              <a:t> </a:t>
            </a:r>
            <a:r>
              <a:rPr dirty="0" spc="-10"/>
              <a:t>Awards</a:t>
            </a:r>
          </a:p>
          <a:p>
            <a:pPr marL="12700" marR="3622675">
              <a:lnSpc>
                <a:spcPts val="1700"/>
              </a:lnSpc>
            </a:pPr>
            <a:r>
              <a:rPr dirty="0"/>
              <a:t>3x</a:t>
            </a:r>
            <a:r>
              <a:rPr dirty="0" spc="-45"/>
              <a:t> Taipei</a:t>
            </a:r>
            <a:r>
              <a:rPr dirty="0" spc="-85"/>
              <a:t> </a:t>
            </a:r>
            <a:r>
              <a:rPr dirty="0" spc="-20"/>
              <a:t>Cycle</a:t>
            </a:r>
            <a:r>
              <a:rPr dirty="0" spc="-50"/>
              <a:t> </a:t>
            </a:r>
            <a:r>
              <a:rPr dirty="0"/>
              <a:t>d&amp;i</a:t>
            </a:r>
            <a:r>
              <a:rPr dirty="0" spc="-45"/>
              <a:t> </a:t>
            </a:r>
            <a:r>
              <a:rPr dirty="0" spc="-10"/>
              <a:t>GOLD</a:t>
            </a:r>
            <a:r>
              <a:rPr dirty="0" spc="-35"/>
              <a:t> </a:t>
            </a:r>
            <a:r>
              <a:rPr dirty="0" spc="-10"/>
              <a:t>awards </a:t>
            </a:r>
            <a:r>
              <a:rPr dirty="0"/>
              <a:t>14</a:t>
            </a:r>
            <a:r>
              <a:rPr dirty="0" spc="-50"/>
              <a:t> </a:t>
            </a:r>
            <a:r>
              <a:rPr dirty="0"/>
              <a:t>x</a:t>
            </a:r>
            <a:r>
              <a:rPr dirty="0" spc="-15"/>
              <a:t> </a:t>
            </a:r>
            <a:r>
              <a:rPr dirty="0" spc="-45"/>
              <a:t>Taipei</a:t>
            </a:r>
            <a:r>
              <a:rPr dirty="0" spc="-114"/>
              <a:t> </a:t>
            </a:r>
            <a:r>
              <a:rPr dirty="0" spc="-20"/>
              <a:t>Cycle</a:t>
            </a:r>
            <a:r>
              <a:rPr dirty="0" spc="-50"/>
              <a:t> </a:t>
            </a:r>
            <a:r>
              <a:rPr dirty="0"/>
              <a:t>d&amp;i</a:t>
            </a:r>
            <a:r>
              <a:rPr dirty="0" spc="-35"/>
              <a:t> </a:t>
            </a:r>
            <a:r>
              <a:rPr dirty="0" spc="-10"/>
              <a:t>awards</a:t>
            </a:r>
          </a:p>
          <a:p>
            <a:pPr marL="12700">
              <a:lnSpc>
                <a:spcPts val="1600"/>
              </a:lnSpc>
            </a:pPr>
            <a:r>
              <a:rPr dirty="0"/>
              <a:t>3</a:t>
            </a:r>
            <a:r>
              <a:rPr dirty="0" spc="-65"/>
              <a:t> </a:t>
            </a:r>
            <a:r>
              <a:rPr dirty="0"/>
              <a:t>x</a:t>
            </a:r>
            <a:r>
              <a:rPr dirty="0" spc="-25"/>
              <a:t> </a:t>
            </a:r>
            <a:r>
              <a:rPr dirty="0" spc="-55"/>
              <a:t>E-</a:t>
            </a:r>
            <a:r>
              <a:rPr dirty="0" spc="-35"/>
              <a:t>bike</a:t>
            </a:r>
            <a:r>
              <a:rPr dirty="0" spc="-90"/>
              <a:t> </a:t>
            </a:r>
            <a:r>
              <a:rPr dirty="0"/>
              <a:t>of</a:t>
            </a:r>
            <a:r>
              <a:rPr dirty="0" spc="-70"/>
              <a:t> </a:t>
            </a:r>
            <a:r>
              <a:rPr dirty="0"/>
              <a:t>the</a:t>
            </a:r>
            <a:r>
              <a:rPr dirty="0" spc="-35"/>
              <a:t> </a:t>
            </a:r>
            <a:r>
              <a:rPr dirty="0" spc="-20"/>
              <a:t>year</a:t>
            </a:r>
            <a:r>
              <a:rPr dirty="0" spc="-70"/>
              <a:t> </a:t>
            </a:r>
            <a:r>
              <a:rPr dirty="0"/>
              <a:t>(2017</a:t>
            </a:r>
            <a:r>
              <a:rPr dirty="0" spc="-35"/>
              <a:t> </a:t>
            </a:r>
            <a:r>
              <a:rPr dirty="0"/>
              <a:t>&amp;</a:t>
            </a:r>
            <a:r>
              <a:rPr dirty="0" spc="-65"/>
              <a:t> </a:t>
            </a:r>
            <a:r>
              <a:rPr dirty="0"/>
              <a:t>2018</a:t>
            </a:r>
            <a:r>
              <a:rPr dirty="0" spc="-35"/>
              <a:t> </a:t>
            </a:r>
            <a:r>
              <a:rPr dirty="0"/>
              <a:t>&amp;</a:t>
            </a:r>
            <a:r>
              <a:rPr dirty="0" spc="-65"/>
              <a:t> </a:t>
            </a:r>
            <a:r>
              <a:rPr dirty="0" spc="-10"/>
              <a:t>2019)</a:t>
            </a:r>
          </a:p>
          <a:p>
            <a:pPr marL="12700">
              <a:lnSpc>
                <a:spcPts val="1595"/>
              </a:lnSpc>
            </a:pPr>
            <a:r>
              <a:rPr dirty="0"/>
              <a:t>6</a:t>
            </a:r>
            <a:r>
              <a:rPr dirty="0" spc="-40"/>
              <a:t> </a:t>
            </a:r>
            <a:r>
              <a:rPr dirty="0"/>
              <a:t>x</a:t>
            </a:r>
            <a:r>
              <a:rPr dirty="0" spc="-20"/>
              <a:t> </a:t>
            </a:r>
            <a:r>
              <a:rPr dirty="0" spc="-30"/>
              <a:t>Nomination</a:t>
            </a:r>
            <a:r>
              <a:rPr dirty="0" spc="-60"/>
              <a:t> </a:t>
            </a:r>
            <a:r>
              <a:rPr dirty="0" spc="-10"/>
              <a:t>designer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 spc="-10"/>
              <a:t>year</a:t>
            </a:r>
            <a:r>
              <a:rPr dirty="0" spc="-50"/>
              <a:t> </a:t>
            </a:r>
            <a:r>
              <a:rPr dirty="0"/>
              <a:t>by</a:t>
            </a:r>
            <a:r>
              <a:rPr dirty="0" spc="-50"/>
              <a:t> </a:t>
            </a:r>
            <a:r>
              <a:rPr dirty="0"/>
              <a:t>IAD</a:t>
            </a:r>
            <a:r>
              <a:rPr dirty="0" spc="-40"/>
              <a:t> </a:t>
            </a:r>
            <a:r>
              <a:rPr dirty="0" spc="-20"/>
              <a:t>(2017,2018,2019,</a:t>
            </a:r>
            <a:r>
              <a:rPr dirty="0" spc="-35"/>
              <a:t> </a:t>
            </a:r>
            <a:r>
              <a:rPr dirty="0"/>
              <a:t>2020</a:t>
            </a:r>
            <a:r>
              <a:rPr dirty="0" spc="-35"/>
              <a:t> </a:t>
            </a:r>
            <a:r>
              <a:rPr dirty="0"/>
              <a:t>&amp;</a:t>
            </a:r>
            <a:r>
              <a:rPr dirty="0" spc="-60"/>
              <a:t> </a:t>
            </a:r>
            <a:r>
              <a:rPr dirty="0"/>
              <a:t>2021,</a:t>
            </a:r>
            <a:r>
              <a:rPr dirty="0" spc="-20"/>
              <a:t> </a:t>
            </a:r>
            <a:r>
              <a:rPr dirty="0" spc="-10"/>
              <a:t>2022)</a:t>
            </a:r>
          </a:p>
          <a:p>
            <a:pPr marL="12700" marR="5080">
              <a:lnSpc>
                <a:spcPts val="1700"/>
              </a:lnSpc>
              <a:spcBef>
                <a:spcPts val="5"/>
              </a:spcBef>
            </a:pPr>
            <a:r>
              <a:rPr dirty="0"/>
              <a:t>6</a:t>
            </a:r>
            <a:r>
              <a:rPr dirty="0" spc="-35"/>
              <a:t> </a:t>
            </a:r>
            <a:r>
              <a:rPr dirty="0"/>
              <a:t>x</a:t>
            </a:r>
            <a:r>
              <a:rPr dirty="0" spc="-15"/>
              <a:t> </a:t>
            </a:r>
            <a:r>
              <a:rPr dirty="0" spc="-30"/>
              <a:t>Nomination</a:t>
            </a:r>
            <a:r>
              <a:rPr dirty="0" spc="-50"/>
              <a:t> </a:t>
            </a:r>
            <a:r>
              <a:rPr dirty="0"/>
              <a:t>designer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45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/>
              <a:t>year</a:t>
            </a:r>
            <a:r>
              <a:rPr dirty="0" spc="-45"/>
              <a:t> </a:t>
            </a:r>
            <a:r>
              <a:rPr dirty="0"/>
              <a:t>by</a:t>
            </a:r>
            <a:r>
              <a:rPr dirty="0" spc="-35"/>
              <a:t> </a:t>
            </a:r>
            <a:r>
              <a:rPr dirty="0" spc="-20"/>
              <a:t>EPDA</a:t>
            </a:r>
            <a:r>
              <a:rPr dirty="0" spc="-55"/>
              <a:t> </a:t>
            </a:r>
            <a:r>
              <a:rPr dirty="0" spc="-20"/>
              <a:t>(2017,2018,2019</a:t>
            </a:r>
            <a:r>
              <a:rPr dirty="0" spc="-25"/>
              <a:t> </a:t>
            </a:r>
            <a:r>
              <a:rPr dirty="0"/>
              <a:t>&amp;</a:t>
            </a:r>
            <a:r>
              <a:rPr dirty="0" spc="-30"/>
              <a:t> </a:t>
            </a:r>
            <a:r>
              <a:rPr dirty="0"/>
              <a:t>2020,</a:t>
            </a:r>
            <a:r>
              <a:rPr dirty="0" spc="-30"/>
              <a:t> </a:t>
            </a:r>
            <a:r>
              <a:rPr dirty="0"/>
              <a:t>2021,</a:t>
            </a:r>
            <a:r>
              <a:rPr dirty="0" spc="-25"/>
              <a:t> </a:t>
            </a:r>
            <a:r>
              <a:rPr dirty="0" spc="-10"/>
              <a:t>2022) </a:t>
            </a:r>
            <a:r>
              <a:rPr dirty="0"/>
              <a:t>6</a:t>
            </a:r>
            <a:r>
              <a:rPr dirty="0" spc="-50"/>
              <a:t> </a:t>
            </a:r>
            <a:r>
              <a:rPr dirty="0"/>
              <a:t>x</a:t>
            </a:r>
            <a:r>
              <a:rPr dirty="0" spc="-10"/>
              <a:t> </a:t>
            </a:r>
            <a:r>
              <a:rPr dirty="0"/>
              <a:t>Winner</a:t>
            </a:r>
            <a:r>
              <a:rPr dirty="0" spc="-35"/>
              <a:t> </a:t>
            </a:r>
            <a:r>
              <a:rPr dirty="0" spc="-20"/>
              <a:t>Bicycle</a:t>
            </a:r>
            <a:r>
              <a:rPr dirty="0" spc="-55"/>
              <a:t> </a:t>
            </a:r>
            <a:r>
              <a:rPr dirty="0" spc="-30"/>
              <a:t>Brand</a:t>
            </a:r>
            <a:r>
              <a:rPr dirty="0" spc="-80"/>
              <a:t> </a:t>
            </a:r>
            <a:r>
              <a:rPr dirty="0" spc="-10"/>
              <a:t>Contest</a:t>
            </a:r>
          </a:p>
          <a:p>
            <a:pPr marL="12700">
              <a:lnSpc>
                <a:spcPts val="1600"/>
              </a:lnSpc>
            </a:pPr>
            <a:r>
              <a:rPr dirty="0"/>
              <a:t>3</a:t>
            </a:r>
            <a:r>
              <a:rPr dirty="0" spc="-70"/>
              <a:t> </a:t>
            </a:r>
            <a:r>
              <a:rPr dirty="0"/>
              <a:t>X</a:t>
            </a:r>
            <a:r>
              <a:rPr dirty="0" spc="-80"/>
              <a:t> </a:t>
            </a:r>
            <a:r>
              <a:rPr dirty="0" spc="-10"/>
              <a:t>Clio</a:t>
            </a:r>
            <a:r>
              <a:rPr dirty="0" spc="-65"/>
              <a:t> </a:t>
            </a:r>
            <a:r>
              <a:rPr dirty="0" spc="-10"/>
              <a:t>Awards</a:t>
            </a:r>
          </a:p>
          <a:p>
            <a:pPr marL="12700">
              <a:lnSpc>
                <a:spcPts val="1595"/>
              </a:lnSpc>
            </a:pPr>
            <a:r>
              <a:rPr dirty="0"/>
              <a:t>3</a:t>
            </a:r>
            <a:r>
              <a:rPr dirty="0" spc="-60"/>
              <a:t> </a:t>
            </a:r>
            <a:r>
              <a:rPr dirty="0"/>
              <a:t>x</a:t>
            </a:r>
            <a:r>
              <a:rPr dirty="0" spc="-25"/>
              <a:t> Mobius</a:t>
            </a:r>
            <a:r>
              <a:rPr dirty="0" spc="-70"/>
              <a:t> </a:t>
            </a:r>
            <a:r>
              <a:rPr dirty="0" spc="-10"/>
              <a:t>Awards</a:t>
            </a:r>
          </a:p>
          <a:p>
            <a:pPr marL="12700" marR="4118610">
              <a:lnSpc>
                <a:spcPts val="1700"/>
              </a:lnSpc>
              <a:spcBef>
                <a:spcPts val="5"/>
              </a:spcBef>
            </a:pPr>
            <a:r>
              <a:rPr dirty="0"/>
              <a:t>3</a:t>
            </a:r>
            <a:r>
              <a:rPr dirty="0" spc="-55"/>
              <a:t> </a:t>
            </a:r>
            <a:r>
              <a:rPr dirty="0"/>
              <a:t>x</a:t>
            </a:r>
            <a:r>
              <a:rPr dirty="0" spc="-35"/>
              <a:t> </a:t>
            </a:r>
            <a:r>
              <a:rPr dirty="0"/>
              <a:t>Cannes</a:t>
            </a:r>
            <a:r>
              <a:rPr dirty="0" spc="-40"/>
              <a:t> </a:t>
            </a:r>
            <a:r>
              <a:rPr dirty="0"/>
              <a:t>Lions</a:t>
            </a:r>
            <a:r>
              <a:rPr dirty="0" spc="-60"/>
              <a:t> </a:t>
            </a:r>
            <a:r>
              <a:rPr dirty="0" spc="-10"/>
              <a:t>Awards </a:t>
            </a:r>
            <a:r>
              <a:rPr dirty="0"/>
              <a:t>6</a:t>
            </a:r>
            <a:r>
              <a:rPr dirty="0" spc="-25"/>
              <a:t> </a:t>
            </a:r>
            <a:r>
              <a:rPr dirty="0"/>
              <a:t>x </a:t>
            </a:r>
            <a:r>
              <a:rPr dirty="0" spc="-30"/>
              <a:t>Creative</a:t>
            </a:r>
            <a:r>
              <a:rPr dirty="0" spc="-45"/>
              <a:t> </a:t>
            </a:r>
            <a:r>
              <a:rPr dirty="0" spc="-30"/>
              <a:t>Circle</a:t>
            </a:r>
            <a:r>
              <a:rPr dirty="0" spc="-60"/>
              <a:t> </a:t>
            </a:r>
            <a:r>
              <a:rPr dirty="0" spc="-10"/>
              <a:t>Awards</a:t>
            </a:r>
          </a:p>
          <a:p>
            <a:pPr marL="12700" marR="2479675">
              <a:lnSpc>
                <a:spcPts val="1680"/>
              </a:lnSpc>
              <a:spcBef>
                <a:spcPts val="25"/>
              </a:spcBef>
            </a:pPr>
            <a:r>
              <a:rPr dirty="0"/>
              <a:t>1</a:t>
            </a:r>
            <a:r>
              <a:rPr dirty="0" spc="-55"/>
              <a:t> </a:t>
            </a:r>
            <a:r>
              <a:rPr dirty="0"/>
              <a:t>X</a:t>
            </a:r>
            <a:r>
              <a:rPr dirty="0" spc="-55"/>
              <a:t> </a:t>
            </a:r>
            <a:r>
              <a:rPr dirty="0" spc="-10"/>
              <a:t>Designer</a:t>
            </a:r>
            <a:r>
              <a:rPr dirty="0" spc="-50"/>
              <a:t> </a:t>
            </a:r>
            <a:r>
              <a:rPr dirty="0"/>
              <a:t>of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/>
              <a:t>year</a:t>
            </a:r>
            <a:r>
              <a:rPr dirty="0" spc="-50"/>
              <a:t> </a:t>
            </a:r>
            <a:r>
              <a:rPr dirty="0"/>
              <a:t>New</a:t>
            </a:r>
            <a:r>
              <a:rPr dirty="0" spc="-50"/>
              <a:t> </a:t>
            </a:r>
            <a:r>
              <a:rPr dirty="0" spc="-60"/>
              <a:t>York</a:t>
            </a:r>
            <a:r>
              <a:rPr dirty="0" spc="-135"/>
              <a:t> </a:t>
            </a:r>
            <a:r>
              <a:rPr dirty="0"/>
              <a:t>design</a:t>
            </a:r>
            <a:r>
              <a:rPr dirty="0" spc="-25"/>
              <a:t> </a:t>
            </a:r>
            <a:r>
              <a:rPr dirty="0" spc="-10"/>
              <a:t>awards </a:t>
            </a:r>
            <a:r>
              <a:rPr dirty="0"/>
              <a:t>1</a:t>
            </a:r>
            <a:r>
              <a:rPr dirty="0" spc="-60"/>
              <a:t> </a:t>
            </a:r>
            <a:r>
              <a:rPr dirty="0"/>
              <a:t>x</a:t>
            </a:r>
            <a:r>
              <a:rPr dirty="0" spc="-15"/>
              <a:t> </a:t>
            </a:r>
            <a:r>
              <a:rPr dirty="0" spc="-20"/>
              <a:t>Good</a:t>
            </a:r>
            <a:r>
              <a:rPr dirty="0" spc="-65"/>
              <a:t> </a:t>
            </a:r>
            <a:r>
              <a:rPr dirty="0"/>
              <a:t>design</a:t>
            </a:r>
            <a:r>
              <a:rPr dirty="0" spc="-15"/>
              <a:t> </a:t>
            </a:r>
            <a:r>
              <a:rPr dirty="0" spc="-35"/>
              <a:t>Award</a:t>
            </a:r>
            <a:r>
              <a:rPr dirty="0" spc="-85"/>
              <a:t> </a:t>
            </a:r>
            <a:r>
              <a:rPr dirty="0" spc="-10"/>
              <a:t>Australia</a:t>
            </a:r>
          </a:p>
          <a:p>
            <a:pPr marL="12700" marR="3953510">
              <a:lnSpc>
                <a:spcPts val="1610"/>
              </a:lnSpc>
              <a:spcBef>
                <a:spcPts val="175"/>
              </a:spcBef>
            </a:pPr>
            <a:r>
              <a:rPr dirty="0"/>
              <a:t>1</a:t>
            </a:r>
            <a:r>
              <a:rPr dirty="0" spc="-45"/>
              <a:t> </a:t>
            </a:r>
            <a:r>
              <a:rPr dirty="0"/>
              <a:t>x</a:t>
            </a:r>
            <a:r>
              <a:rPr dirty="0" spc="-25"/>
              <a:t> </a:t>
            </a:r>
            <a:r>
              <a:rPr dirty="0" spc="-20"/>
              <a:t>designer</a:t>
            </a:r>
            <a:r>
              <a:rPr dirty="0" spc="-50"/>
              <a:t> </a:t>
            </a:r>
            <a:r>
              <a:rPr dirty="0" spc="-10"/>
              <a:t>of</a:t>
            </a:r>
            <a:r>
              <a:rPr dirty="0" spc="-70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 spc="-20"/>
              <a:t>year</a:t>
            </a:r>
            <a:r>
              <a:rPr dirty="0" spc="-65"/>
              <a:t> </a:t>
            </a:r>
            <a:r>
              <a:rPr dirty="0" spc="-25"/>
              <a:t>USA </a:t>
            </a:r>
            <a:r>
              <a:rPr dirty="0"/>
              <a:t>6</a:t>
            </a:r>
            <a:r>
              <a:rPr dirty="0" spc="-35"/>
              <a:t> </a:t>
            </a:r>
            <a:r>
              <a:rPr dirty="0"/>
              <a:t>x</a:t>
            </a:r>
            <a:r>
              <a:rPr dirty="0" spc="-5"/>
              <a:t> </a:t>
            </a:r>
            <a:r>
              <a:rPr dirty="0" spc="-30"/>
              <a:t>Creative</a:t>
            </a:r>
            <a:r>
              <a:rPr dirty="0" spc="-50"/>
              <a:t> </a:t>
            </a:r>
            <a:r>
              <a:rPr dirty="0" spc="-10"/>
              <a:t>Circle</a:t>
            </a:r>
          </a:p>
        </p:txBody>
      </p:sp>
      <p:pic>
        <p:nvPicPr>
          <p:cNvPr id="24" name="object 24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197862" y="5736027"/>
            <a:ext cx="1794484" cy="897237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395237" y="5913392"/>
            <a:ext cx="1599780" cy="686983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447544" y="5885688"/>
            <a:ext cx="765048" cy="7650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4210" y="185102"/>
            <a:ext cx="2314016" cy="71748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30853" y="539978"/>
            <a:ext cx="1920646" cy="156030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6443" y="2159494"/>
            <a:ext cx="2638955" cy="143460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00743" y="2272474"/>
            <a:ext cx="4639086" cy="244047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39277" y="422655"/>
            <a:ext cx="1768017" cy="1768017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01113" y="504050"/>
            <a:ext cx="1408544" cy="163216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98879" y="132511"/>
            <a:ext cx="1254380" cy="2029828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004814" y="588810"/>
            <a:ext cx="1774926" cy="156030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02443" y="3311487"/>
            <a:ext cx="2282247" cy="1458048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485888" y="2132294"/>
            <a:ext cx="2324900" cy="1216327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848600" y="3470833"/>
            <a:ext cx="2192575" cy="1364643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02443" y="4775250"/>
            <a:ext cx="2458720" cy="1394823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383254" y="4769542"/>
            <a:ext cx="2382913" cy="1379575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252413" y="4788684"/>
            <a:ext cx="3039973" cy="2069312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0379062" y="2811875"/>
            <a:ext cx="1812937" cy="1709330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834740" y="987983"/>
            <a:ext cx="2357259" cy="1776183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0054145" y="4648200"/>
            <a:ext cx="2009597" cy="2209799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2601353" y="6391147"/>
            <a:ext cx="65862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Sni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plus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d.o.o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Marijana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Stilinovića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55a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10431</a:t>
            </a:r>
            <a:r>
              <a:rPr dirty="0" sz="1800" spc="28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Sveta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Nedelja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Croatia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724530" y="6110732"/>
            <a:ext cx="65862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Sni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plus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d.o.o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Marijana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Stilinovića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55a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10431</a:t>
            </a:r>
            <a:r>
              <a:rPr dirty="0" sz="1800" spc="28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Sveta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Nedelja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Croatia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854365" y="1084579"/>
            <a:ext cx="1647189" cy="4564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6545" indent="-2838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6545" algn="l"/>
              </a:tabLst>
            </a:pPr>
            <a:r>
              <a:rPr dirty="0" sz="1200" spc="-20">
                <a:latin typeface="Calibri"/>
                <a:cs typeface="Calibri"/>
              </a:rPr>
              <a:t>IKEA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30"/>
              </a:lnSpc>
              <a:spcBef>
                <a:spcPts val="45"/>
              </a:spcBef>
              <a:buFont typeface="Arial MT"/>
              <a:buChar char="•"/>
              <a:tabLst>
                <a:tab pos="296545" algn="l"/>
              </a:tabLst>
            </a:pPr>
            <a:r>
              <a:rPr dirty="0" sz="1200" spc="-25">
                <a:latin typeface="Calibri"/>
                <a:cs typeface="Calibri"/>
              </a:rPr>
              <a:t>Pininfarina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Evoluzione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0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Maserati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1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20">
                <a:latin typeface="Calibri"/>
                <a:cs typeface="Calibri"/>
              </a:rPr>
              <a:t>Jeep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15"/>
              </a:lnSpc>
              <a:spcBef>
                <a:spcPts val="75"/>
              </a:spcBef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Kawasaki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390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Bugatti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0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Mercedes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0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Renault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1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>
                <a:latin typeface="Calibri"/>
                <a:cs typeface="Calibri"/>
              </a:rPr>
              <a:t>Mini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Cooper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30"/>
              </a:lnSpc>
              <a:spcBef>
                <a:spcPts val="45"/>
              </a:spcBef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Ferrari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0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Pagani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390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Haibike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0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Raleigh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30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Ghost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30"/>
              </a:lnSpc>
              <a:spcBef>
                <a:spcPts val="50"/>
              </a:spcBef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Winora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0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Sparta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390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Mahindra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0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Brose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30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Schwinn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15"/>
              </a:lnSpc>
              <a:spcBef>
                <a:spcPts val="50"/>
              </a:spcBef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Merida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0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20">
                <a:latin typeface="Calibri"/>
                <a:cs typeface="Calibri"/>
              </a:rPr>
              <a:t>Zeitgeist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Motors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0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Panasonic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390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Harley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Davidson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1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Lapierre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ct val="100000"/>
              </a:lnSpc>
              <a:spcBef>
                <a:spcPts val="165"/>
              </a:spcBef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Cowboy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623549" y="1072388"/>
            <a:ext cx="1776730" cy="4539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6545" indent="-283845">
              <a:lnSpc>
                <a:spcPts val="1415"/>
              </a:lnSpc>
              <a:spcBef>
                <a:spcPts val="100"/>
              </a:spcBef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Nishiki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390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Winther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0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20">
                <a:latin typeface="Calibri"/>
                <a:cs typeface="Calibri"/>
              </a:rPr>
              <a:t>COOP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0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Biltema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390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Thansen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0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Matra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0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Velo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Solex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390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Easybike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1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20">
                <a:latin typeface="Calibri"/>
                <a:cs typeface="Calibri"/>
              </a:rPr>
              <a:t>Dott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15"/>
              </a:lnSpc>
              <a:spcBef>
                <a:spcPts val="70"/>
              </a:spcBef>
              <a:buFont typeface="Arial MT"/>
              <a:buChar char="•"/>
              <a:tabLst>
                <a:tab pos="296545" algn="l"/>
              </a:tabLst>
            </a:pPr>
            <a:r>
              <a:rPr dirty="0" sz="1200" spc="-20">
                <a:latin typeface="Calibri"/>
                <a:cs typeface="Calibri"/>
              </a:rPr>
              <a:t>Circ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0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20">
                <a:latin typeface="Calibri"/>
                <a:cs typeface="Calibri"/>
              </a:rPr>
              <a:t>Okai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0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20">
                <a:latin typeface="Calibri"/>
                <a:cs typeface="Calibri"/>
              </a:rPr>
              <a:t>Jump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390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Diavelo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1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Bafang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Motors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15"/>
              </a:lnSpc>
              <a:spcBef>
                <a:spcPts val="70"/>
              </a:spcBef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Bosch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Motors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390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20">
                <a:latin typeface="Calibri"/>
                <a:cs typeface="Calibri"/>
              </a:rPr>
              <a:t>KOGA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0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Lamborghini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0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enViolo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1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25">
                <a:latin typeface="Calibri"/>
                <a:cs typeface="Calibri"/>
              </a:rPr>
              <a:t>GT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15"/>
              </a:lnSpc>
              <a:spcBef>
                <a:spcPts val="75"/>
              </a:spcBef>
              <a:buFont typeface="Arial MT"/>
              <a:buChar char="•"/>
              <a:tabLst>
                <a:tab pos="296545" algn="l"/>
              </a:tabLst>
            </a:pPr>
            <a:r>
              <a:rPr dirty="0" sz="1200" spc="-20">
                <a:latin typeface="Calibri"/>
                <a:cs typeface="Calibri"/>
              </a:rPr>
              <a:t>Copenhagen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University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390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>
                <a:latin typeface="Calibri"/>
                <a:cs typeface="Calibri"/>
              </a:rPr>
              <a:t>Accell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Group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Innovation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0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Kawasaki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0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25">
                <a:latin typeface="Calibri"/>
                <a:cs typeface="Calibri"/>
              </a:rPr>
              <a:t>BMW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1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Haibike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ct val="100000"/>
              </a:lnSpc>
              <a:spcBef>
                <a:spcPts val="165"/>
              </a:spcBef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Van</a:t>
            </a:r>
            <a:r>
              <a:rPr dirty="0" sz="1200" spc="-9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Moof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210221" y="1072388"/>
            <a:ext cx="1640839" cy="4539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6545" indent="-283845">
              <a:lnSpc>
                <a:spcPts val="1415"/>
              </a:lnSpc>
              <a:spcBef>
                <a:spcPts val="100"/>
              </a:spcBef>
              <a:buFont typeface="Arial MT"/>
              <a:buChar char="•"/>
              <a:tabLst>
                <a:tab pos="296545" algn="l"/>
              </a:tabLst>
            </a:pPr>
            <a:r>
              <a:rPr dirty="0" sz="1200" spc="-25">
                <a:latin typeface="Calibri"/>
                <a:cs typeface="Calibri"/>
              </a:rPr>
              <a:t>VW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390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30">
                <a:latin typeface="Calibri"/>
                <a:cs typeface="Calibri"/>
              </a:rPr>
              <a:t>FALCO </a:t>
            </a:r>
            <a:r>
              <a:rPr dirty="0" sz="1200" spc="-10">
                <a:latin typeface="Calibri"/>
                <a:cs typeface="Calibri"/>
              </a:rPr>
              <a:t>Motors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0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20">
                <a:latin typeface="Calibri"/>
                <a:cs typeface="Calibri"/>
              </a:rPr>
              <a:t>Matra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Motors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0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Babboe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390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CarQon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0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>
                <a:latin typeface="Calibri"/>
                <a:cs typeface="Calibri"/>
              </a:rPr>
              <a:t>Carver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car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NL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0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Decathlon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390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Lapierre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1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N+Bikes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15"/>
              </a:lnSpc>
              <a:spcBef>
                <a:spcPts val="70"/>
              </a:spcBef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Batavus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0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DiamondBack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0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AutoNord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390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25">
                <a:latin typeface="Calibri"/>
                <a:cs typeface="Calibri"/>
              </a:rPr>
              <a:t>Verlinvest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(Cowboy)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1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>
                <a:latin typeface="Calibri"/>
                <a:cs typeface="Calibri"/>
              </a:rPr>
              <a:t>DS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automobile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15"/>
              </a:lnSpc>
              <a:spcBef>
                <a:spcPts val="70"/>
              </a:spcBef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N+Bikes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390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Mongoose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0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Ebike4delivery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0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25">
                <a:latin typeface="Calibri"/>
                <a:cs typeface="Calibri"/>
              </a:rPr>
              <a:t>REI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1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20">
                <a:latin typeface="Calibri"/>
                <a:cs typeface="Calibri"/>
              </a:rPr>
              <a:t>Bycyklen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Copenhagen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15"/>
              </a:lnSpc>
              <a:spcBef>
                <a:spcPts val="75"/>
              </a:spcBef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Solex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390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20">
                <a:latin typeface="Calibri"/>
                <a:cs typeface="Calibri"/>
              </a:rPr>
              <a:t>Matra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Cars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0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20">
                <a:latin typeface="Calibri"/>
                <a:cs typeface="Calibri"/>
              </a:rPr>
              <a:t>Buyk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0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20">
                <a:latin typeface="Calibri"/>
                <a:cs typeface="Calibri"/>
              </a:rPr>
              <a:t>Hopr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1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25">
                <a:latin typeface="Calibri"/>
                <a:cs typeface="Calibri"/>
              </a:rPr>
              <a:t>BMC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ct val="100000"/>
              </a:lnSpc>
              <a:spcBef>
                <a:spcPts val="165"/>
              </a:spcBef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Chaos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0" b="1">
                <a:latin typeface="Calibri"/>
                <a:cs typeface="Calibri"/>
              </a:rPr>
              <a:t>Client</a:t>
            </a:r>
            <a:r>
              <a:rPr dirty="0" sz="2800" spc="-114" b="1">
                <a:latin typeface="Calibri"/>
                <a:cs typeface="Calibri"/>
              </a:rPr>
              <a:t> </a:t>
            </a:r>
            <a:r>
              <a:rPr dirty="0" sz="2800" spc="-20" b="1">
                <a:latin typeface="Calibri"/>
                <a:cs typeface="Calibri"/>
              </a:rPr>
              <a:t>list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624555" y="1072388"/>
            <a:ext cx="1685289" cy="4539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6545" indent="-283845">
              <a:lnSpc>
                <a:spcPts val="1415"/>
              </a:lnSpc>
              <a:spcBef>
                <a:spcPts val="100"/>
              </a:spcBef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Ernie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Kusters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390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>
                <a:latin typeface="Calibri"/>
                <a:cs typeface="Calibri"/>
              </a:rPr>
              <a:t>Aston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Martin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0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>
                <a:latin typeface="Calibri"/>
                <a:cs typeface="Calibri"/>
              </a:rPr>
              <a:t>Accell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Group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0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Brose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390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30">
                <a:latin typeface="Calibri"/>
                <a:cs typeface="Calibri"/>
              </a:rPr>
              <a:t>Tour</a:t>
            </a:r>
            <a:r>
              <a:rPr dirty="0" sz="1200" spc="-1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France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org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0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Cycle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Europe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0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Sachsenring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390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Pantone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1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Cannondale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15"/>
              </a:lnSpc>
              <a:spcBef>
                <a:spcPts val="70"/>
              </a:spcBef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Ebike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Labs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0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Swiss </a:t>
            </a:r>
            <a:r>
              <a:rPr dirty="0" sz="1200" spc="-20">
                <a:latin typeface="Calibri"/>
                <a:cs typeface="Calibri"/>
              </a:rPr>
              <a:t>emobility Group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0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30">
                <a:latin typeface="Calibri"/>
                <a:cs typeface="Calibri"/>
              </a:rPr>
              <a:t>M-</a:t>
            </a:r>
            <a:r>
              <a:rPr dirty="0" sz="1200" spc="-25">
                <a:latin typeface="Calibri"/>
                <a:cs typeface="Calibri"/>
              </a:rPr>
              <a:t>Way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390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Colag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1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25">
                <a:latin typeface="Calibri"/>
                <a:cs typeface="Calibri"/>
              </a:rPr>
              <a:t>Elektrofahhrad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einfach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15"/>
              </a:lnSpc>
              <a:spcBef>
                <a:spcPts val="70"/>
              </a:spcBef>
              <a:buFont typeface="Arial MT"/>
              <a:buChar char="•"/>
              <a:tabLst>
                <a:tab pos="296545" algn="l"/>
              </a:tabLst>
            </a:pPr>
            <a:r>
              <a:rPr dirty="0" sz="1200" spc="-20">
                <a:latin typeface="Calibri"/>
                <a:cs typeface="Calibri"/>
              </a:rPr>
              <a:t>Mifa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390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Lapierre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0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>
                <a:latin typeface="Calibri"/>
                <a:cs typeface="Calibri"/>
              </a:rPr>
              <a:t>Bodo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bicycle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factory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0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Hercules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(ZEG)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1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Stella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15"/>
              </a:lnSpc>
              <a:spcBef>
                <a:spcPts val="75"/>
              </a:spcBef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Brose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Motors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390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Segway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0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Citroen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0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Smafo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ts val="1415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1200" spc="-20">
                <a:latin typeface="Calibri"/>
                <a:cs typeface="Calibri"/>
              </a:rPr>
              <a:t>BODO</a:t>
            </a:r>
            <a:endParaRPr sz="1200">
              <a:latin typeface="Calibri"/>
              <a:cs typeface="Calibri"/>
            </a:endParaRPr>
          </a:p>
          <a:p>
            <a:pPr marL="296545" indent="-283845">
              <a:lnSpc>
                <a:spcPct val="100000"/>
              </a:lnSpc>
              <a:spcBef>
                <a:spcPts val="165"/>
              </a:spcBef>
              <a:buFont typeface="Arial MT"/>
              <a:buChar char="•"/>
              <a:tabLst>
                <a:tab pos="296545" algn="l"/>
              </a:tabLst>
            </a:pPr>
            <a:r>
              <a:rPr dirty="0" sz="1200" spc="-10">
                <a:latin typeface="Calibri"/>
                <a:cs typeface="Calibri"/>
              </a:rPr>
              <a:t>Stajvelo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4210" y="185102"/>
            <a:ext cx="2314016" cy="71748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304800"/>
            <a:ext cx="6248400" cy="624839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58000" y="1391119"/>
            <a:ext cx="2057400" cy="2057400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6858000" y="1931479"/>
            <a:ext cx="4838700" cy="4309745"/>
            <a:chOff x="6858000" y="1931479"/>
            <a:chExt cx="4838700" cy="4309745"/>
          </a:xfrm>
        </p:grpSpPr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67800" y="1931479"/>
              <a:ext cx="2628900" cy="262889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58000" y="3612070"/>
              <a:ext cx="2628900" cy="2628893"/>
            </a:xfrm>
            <a:prstGeom prst="rect">
              <a:avLst/>
            </a:prstGeom>
          </p:spPr>
        </p:pic>
      </p:grpSp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05375" y="198996"/>
            <a:ext cx="2736850" cy="12254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78474" y="0"/>
            <a:ext cx="10775315" cy="6440805"/>
            <a:chOff x="778474" y="0"/>
            <a:chExt cx="10775315" cy="644080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8474" y="469557"/>
              <a:ext cx="10775086" cy="5971195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37486" y="0"/>
              <a:ext cx="2916085" cy="2133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4210" y="185102"/>
            <a:ext cx="2314016" cy="71748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143500" cy="685799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57800" y="254368"/>
            <a:ext cx="3962400" cy="63492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4210" y="185102"/>
            <a:ext cx="2314016" cy="717486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0" y="1253528"/>
            <a:ext cx="11986895" cy="4791075"/>
            <a:chOff x="0" y="1253528"/>
            <a:chExt cx="11986895" cy="4791075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253528"/>
              <a:ext cx="7772400" cy="394804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72400" y="3674389"/>
              <a:ext cx="4214190" cy="2369926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72400" y="1254175"/>
              <a:ext cx="4214190" cy="2370480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2724530" y="6110732"/>
            <a:ext cx="65862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Sni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plus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d.o.o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Marijana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Stilinovića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55a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10431</a:t>
            </a:r>
            <a:r>
              <a:rPr dirty="0" sz="1800" spc="28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Sveta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Nedelja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Croatia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3028" y="190307"/>
            <a:ext cx="4991097" cy="6343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28600" y="101879"/>
            <a:ext cx="11430000" cy="6400800"/>
            <a:chOff x="228600" y="101879"/>
            <a:chExt cx="11430000" cy="64008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5492" y="101879"/>
              <a:ext cx="10923104" cy="640025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8600" y="101879"/>
              <a:ext cx="3276600" cy="182032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28600" y="101879"/>
            <a:ext cx="11530330" cy="6513195"/>
            <a:chOff x="228600" y="101879"/>
            <a:chExt cx="11530330" cy="651319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3677" y="243001"/>
              <a:ext cx="11324640" cy="6371993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8600" y="101879"/>
              <a:ext cx="3276600" cy="182032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63873" y="5"/>
            <a:ext cx="11328400" cy="6689090"/>
            <a:chOff x="863873" y="5"/>
            <a:chExt cx="11328400" cy="668909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3873" y="5"/>
              <a:ext cx="11328120" cy="6689026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04210" y="185102"/>
              <a:ext cx="2314016" cy="717486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5486323" y="356108"/>
            <a:ext cx="169481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HAIBIKE</a:t>
            </a:r>
            <a:r>
              <a:rPr dirty="0" sz="1800" spc="-9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Flyon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8798" y="185102"/>
            <a:ext cx="1905000" cy="1574787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724530" y="6110732"/>
            <a:ext cx="65862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Sni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plus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d.o.o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Marijana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Stilinovića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55a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10431</a:t>
            </a:r>
            <a:r>
              <a:rPr dirty="0" sz="1800" spc="28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Sveta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Nedelja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Croatia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499023" y="376698"/>
            <a:ext cx="1669414" cy="279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5"/>
              </a:lnSpc>
            </a:pP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HAIBIKE</a:t>
            </a:r>
            <a:r>
              <a:rPr dirty="0" sz="1800" spc="-9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Flyon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0"/>
            <a:ext cx="6858000" cy="6857997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17023" y="185102"/>
            <a:ext cx="2314016" cy="71748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5410" y="410908"/>
            <a:ext cx="1590089" cy="56843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2724530" y="6110732"/>
            <a:ext cx="65862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Sni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plus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d.o.o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Marijana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Stilinovića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55a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10431</a:t>
            </a:r>
            <a:r>
              <a:rPr dirty="0" sz="1800" spc="28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Sveta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Nedelja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Croatia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5319" y="728513"/>
            <a:ext cx="7772400" cy="5181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1789" rIns="0" bIns="0" rtlCol="0" vert="horz">
            <a:spAutoFit/>
          </a:bodyPr>
          <a:lstStyle/>
          <a:p>
            <a:pPr marL="2675255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90"/>
              <a:t> </a:t>
            </a:r>
            <a:r>
              <a:rPr dirty="0"/>
              <a:t>HAIBIKE</a:t>
            </a:r>
            <a:r>
              <a:rPr dirty="0" spc="-90"/>
              <a:t> </a:t>
            </a:r>
            <a:r>
              <a:rPr dirty="0"/>
              <a:t>Flyon</a:t>
            </a:r>
            <a:r>
              <a:rPr dirty="0" spc="-85"/>
              <a:t> </a:t>
            </a:r>
            <a:r>
              <a:rPr dirty="0"/>
              <a:t>TQ</a:t>
            </a:r>
            <a:r>
              <a:rPr dirty="0" spc="-85"/>
              <a:t> </a:t>
            </a:r>
            <a:r>
              <a:rPr dirty="0" spc="-20"/>
              <a:t>Motor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724530" y="6110732"/>
            <a:ext cx="65862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Sni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plus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d.o.o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Marijana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Stilinovića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55a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10431</a:t>
            </a:r>
            <a:r>
              <a:rPr dirty="0" sz="1800" spc="28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Sveta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Nedelja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Croatia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752600" cy="17691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1789" rIns="0" bIns="0" rtlCol="0" vert="horz">
            <a:spAutoFit/>
          </a:bodyPr>
          <a:lstStyle/>
          <a:p>
            <a:pPr marL="2675255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60"/>
              <a:t> </a:t>
            </a:r>
            <a:r>
              <a:rPr dirty="0"/>
              <a:t>TQ</a:t>
            </a:r>
            <a:r>
              <a:rPr dirty="0" spc="-60"/>
              <a:t> </a:t>
            </a:r>
            <a:r>
              <a:rPr dirty="0"/>
              <a:t>Motor</a:t>
            </a:r>
            <a:r>
              <a:rPr dirty="0" spc="-70"/>
              <a:t> </a:t>
            </a:r>
            <a:r>
              <a:rPr dirty="0"/>
              <a:t>–</a:t>
            </a:r>
            <a:r>
              <a:rPr dirty="0" spc="-60"/>
              <a:t> </a:t>
            </a:r>
            <a:r>
              <a:rPr dirty="0"/>
              <a:t>we</a:t>
            </a:r>
            <a:r>
              <a:rPr dirty="0" spc="-55"/>
              <a:t> </a:t>
            </a:r>
            <a:r>
              <a:rPr dirty="0"/>
              <a:t>made</a:t>
            </a:r>
            <a:r>
              <a:rPr dirty="0" spc="-60"/>
              <a:t> </a:t>
            </a:r>
            <a:r>
              <a:rPr dirty="0"/>
              <a:t>it</a:t>
            </a:r>
            <a:r>
              <a:rPr dirty="0" spc="-60"/>
              <a:t> </a:t>
            </a:r>
            <a:r>
              <a:rPr dirty="0"/>
              <a:t>work.</a:t>
            </a:r>
            <a:r>
              <a:rPr dirty="0" spc="-75"/>
              <a:t> </a:t>
            </a:r>
            <a:r>
              <a:rPr dirty="0" spc="-25"/>
              <a:t>!!!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11718290" cy="6097905"/>
            <a:chOff x="0" y="0"/>
            <a:chExt cx="11718290" cy="609790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1200" y="635941"/>
              <a:ext cx="9709590" cy="5461647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04210" y="185102"/>
              <a:ext cx="2314016" cy="717486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752600" cy="1769160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2724530" y="6110732"/>
            <a:ext cx="65862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Sni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plus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d.o.o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Marijana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Stilinovića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55a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10431</a:t>
            </a:r>
            <a:r>
              <a:rPr dirty="0" sz="1800" spc="28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Sveta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Nedelja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Croatia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4210" y="185102"/>
            <a:ext cx="2314016" cy="71748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5486323" y="356108"/>
            <a:ext cx="10896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carQon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473763" y="444030"/>
            <a:ext cx="10469245" cy="6414135"/>
            <a:chOff x="473763" y="444030"/>
            <a:chExt cx="10469245" cy="6414135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45982" y="1080414"/>
              <a:ext cx="8696998" cy="5777583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3763" y="444030"/>
              <a:ext cx="2566527" cy="917143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2724530" y="6110732"/>
            <a:ext cx="65862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Sni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plus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d.o.o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Marijana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Stilinovića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55a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10431</a:t>
            </a:r>
            <a:r>
              <a:rPr dirty="0" sz="1800" spc="28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Sveta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Nedelja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Croatia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18186" y="902601"/>
            <a:ext cx="4762500" cy="3174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5421" rIns="0" bIns="0" rtlCol="0" vert="horz">
            <a:spAutoFit/>
          </a:bodyPr>
          <a:lstStyle/>
          <a:p>
            <a:pPr marL="274447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30"/>
              <a:t> </a:t>
            </a:r>
            <a:r>
              <a:rPr dirty="0" spc="-25"/>
              <a:t>Pininfarina</a:t>
            </a:r>
            <a:r>
              <a:rPr dirty="0" spc="-55"/>
              <a:t> </a:t>
            </a:r>
            <a:r>
              <a:rPr dirty="0" spc="-10"/>
              <a:t>Evoluzione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1003852" y="34714"/>
            <a:ext cx="5238115" cy="5970270"/>
            <a:chOff x="1003852" y="34714"/>
            <a:chExt cx="5238115" cy="597027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9540" y="902601"/>
              <a:ext cx="5102225" cy="5102225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3852" y="34714"/>
              <a:ext cx="1769160" cy="995154"/>
            </a:xfrm>
            <a:prstGeom prst="rect">
              <a:avLst/>
            </a:prstGeom>
          </p:spPr>
        </p:pic>
      </p:grpSp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18186" y="4186532"/>
            <a:ext cx="1811401" cy="1811401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89175" y="4337354"/>
            <a:ext cx="2127516" cy="1730353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2724530" y="6110732"/>
            <a:ext cx="65862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Sni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plus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d.o.o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Marijana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Stilinovića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55a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10431</a:t>
            </a:r>
            <a:r>
              <a:rPr dirty="0" sz="1800" spc="28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Sveta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Nedelja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Croatia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4210" y="185102"/>
            <a:ext cx="2314016" cy="71748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4561992" y="356108"/>
            <a:ext cx="16776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Bugatti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 spc="-40">
                <a:latin typeface="Calibri"/>
                <a:cs typeface="Calibri"/>
              </a:rPr>
              <a:t>e-</a:t>
            </a:r>
            <a:r>
              <a:rPr dirty="0" sz="1800" spc="-20">
                <a:latin typeface="Calibri"/>
                <a:cs typeface="Calibri"/>
              </a:rPr>
              <a:t>bike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091232" y="164185"/>
            <a:ext cx="4826000" cy="5648325"/>
            <a:chOff x="1091232" y="164185"/>
            <a:chExt cx="4826000" cy="5648325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6008" y="1091323"/>
              <a:ext cx="4721085" cy="4721078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1232" y="164185"/>
              <a:ext cx="1128638" cy="927125"/>
            </a:xfrm>
            <a:prstGeom prst="rect">
              <a:avLst/>
            </a:prstGeom>
          </p:spPr>
        </p:pic>
      </p:grpSp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96000" y="1091323"/>
            <a:ext cx="4721085" cy="472108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724530" y="6110732"/>
            <a:ext cx="65862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Sni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plus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d.o.o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Marijana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Stilinovića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55a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10431</a:t>
            </a:r>
            <a:r>
              <a:rPr dirty="0" sz="1800" spc="28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Sveta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Nedelja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Croatia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6008" y="1091323"/>
              <a:ext cx="4721085" cy="472107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24250" y="0"/>
              <a:ext cx="5143500" cy="6857997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49531" y="3250651"/>
              <a:ext cx="2901403" cy="3607346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50948" y="2631516"/>
              <a:ext cx="3841051" cy="4226481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78196" y="0"/>
              <a:ext cx="2960725" cy="369349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64295" y="3687965"/>
              <a:ext cx="2885249" cy="3170032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83560" y="0"/>
              <a:ext cx="2765971" cy="3687965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0" y="3607904"/>
              <a:ext cx="2683560" cy="3250092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0"/>
              <a:ext cx="2683560" cy="3687965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334679" y="0"/>
              <a:ext cx="3857320" cy="36908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4210" y="185102"/>
            <a:ext cx="2314016" cy="71748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4561992" y="356108"/>
            <a:ext cx="17564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Maserati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40">
                <a:latin typeface="Calibri"/>
                <a:cs typeface="Calibri"/>
              </a:rPr>
              <a:t>e-</a:t>
            </a:r>
            <a:r>
              <a:rPr dirty="0" sz="1800" spc="-10">
                <a:latin typeface="Calibri"/>
                <a:cs typeface="Calibri"/>
              </a:rPr>
              <a:t>scooter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3012" y="4015320"/>
            <a:ext cx="2657589" cy="265757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66103" y="1251332"/>
            <a:ext cx="5337594" cy="533759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70706" y="1263141"/>
            <a:ext cx="2657589" cy="264576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3012" y="1251330"/>
            <a:ext cx="2657589" cy="265757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38410" y="4015320"/>
            <a:ext cx="2657589" cy="265757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43012" y="185102"/>
            <a:ext cx="1995157" cy="81208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4210" y="185102"/>
            <a:ext cx="2314016" cy="71748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4632578" y="538988"/>
            <a:ext cx="18935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Chaos</a:t>
            </a:r>
            <a:r>
              <a:rPr dirty="0" sz="1800" spc="325">
                <a:latin typeface="Calibri"/>
                <a:cs typeface="Calibri"/>
              </a:rPr>
              <a:t> </a:t>
            </a:r>
            <a:r>
              <a:rPr dirty="0" sz="1800" spc="-40">
                <a:latin typeface="Calibri"/>
                <a:cs typeface="Calibri"/>
              </a:rPr>
              <a:t>e-</a:t>
            </a:r>
            <a:r>
              <a:rPr dirty="0" sz="1800" spc="-10">
                <a:latin typeface="Calibri"/>
                <a:cs typeface="Calibri"/>
              </a:rPr>
              <a:t>motorcycle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70600" y="1478953"/>
            <a:ext cx="4374286" cy="246053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23780" y="4069171"/>
            <a:ext cx="4374286" cy="246053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70600" y="4069171"/>
            <a:ext cx="4374286" cy="2460536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973410" y="253798"/>
            <a:ext cx="4624705" cy="3686175"/>
            <a:chOff x="973410" y="253798"/>
            <a:chExt cx="4624705" cy="3686175"/>
          </a:xfrm>
        </p:grpSpPr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3410" y="253798"/>
              <a:ext cx="2157749" cy="118092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23780" y="1478953"/>
              <a:ext cx="4374286" cy="24605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4210" y="185102"/>
            <a:ext cx="2314016" cy="71748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4632578" y="538988"/>
            <a:ext cx="18935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Chaos</a:t>
            </a:r>
            <a:r>
              <a:rPr dirty="0" sz="1800" spc="325">
                <a:latin typeface="Calibri"/>
                <a:cs typeface="Calibri"/>
              </a:rPr>
              <a:t> </a:t>
            </a:r>
            <a:r>
              <a:rPr dirty="0" sz="1800" spc="-40">
                <a:latin typeface="Calibri"/>
                <a:cs typeface="Calibri"/>
              </a:rPr>
              <a:t>e-</a:t>
            </a:r>
            <a:r>
              <a:rPr dirty="0" sz="1800" spc="-10">
                <a:latin typeface="Calibri"/>
                <a:cs typeface="Calibri"/>
              </a:rPr>
              <a:t>motorcycle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304800" y="304380"/>
            <a:ext cx="11696065" cy="6334760"/>
            <a:chOff x="304800" y="304380"/>
            <a:chExt cx="11696065" cy="633476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6800" y="1522949"/>
              <a:ext cx="3281553" cy="511589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27906" y="1522949"/>
              <a:ext cx="7772400" cy="511589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800" y="304380"/>
              <a:ext cx="1657350" cy="16573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4210" y="185102"/>
            <a:ext cx="2314016" cy="71748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4632578" y="538988"/>
            <a:ext cx="18935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Chaos</a:t>
            </a:r>
            <a:r>
              <a:rPr dirty="0" sz="1800" spc="325">
                <a:latin typeface="Calibri"/>
                <a:cs typeface="Calibri"/>
              </a:rPr>
              <a:t> </a:t>
            </a:r>
            <a:r>
              <a:rPr dirty="0" sz="1800" spc="-40">
                <a:latin typeface="Calibri"/>
                <a:cs typeface="Calibri"/>
              </a:rPr>
              <a:t>e-</a:t>
            </a:r>
            <a:r>
              <a:rPr dirty="0" sz="1800" spc="-10">
                <a:latin typeface="Calibri"/>
                <a:cs typeface="Calibri"/>
              </a:rPr>
              <a:t>motorcycle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304800" y="304380"/>
            <a:ext cx="9372600" cy="6024880"/>
            <a:chOff x="304800" y="304380"/>
            <a:chExt cx="9372600" cy="602488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0" y="1218028"/>
              <a:ext cx="7772400" cy="5111233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4800" y="304380"/>
              <a:ext cx="1657350" cy="16573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9428" rIns="0" bIns="0" rtlCol="0" vert="horz">
            <a:spAutoFit/>
          </a:bodyPr>
          <a:lstStyle/>
          <a:p>
            <a:pPr marL="907415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70"/>
              <a:t> </a:t>
            </a:r>
            <a:r>
              <a:rPr dirty="0"/>
              <a:t>Lynx</a:t>
            </a:r>
            <a:r>
              <a:rPr dirty="0" spc="-90"/>
              <a:t> </a:t>
            </a:r>
            <a:r>
              <a:rPr dirty="0"/>
              <a:t>GT</a:t>
            </a:r>
            <a:r>
              <a:rPr dirty="0" spc="-85"/>
              <a:t> </a:t>
            </a:r>
            <a:r>
              <a:rPr dirty="0"/>
              <a:t>electric</a:t>
            </a:r>
            <a:r>
              <a:rPr dirty="0" spc="-55"/>
              <a:t> </a:t>
            </a:r>
            <a:r>
              <a:rPr dirty="0"/>
              <a:t>2</a:t>
            </a:r>
            <a:r>
              <a:rPr dirty="0" spc="-70"/>
              <a:t> </a:t>
            </a:r>
            <a:r>
              <a:rPr dirty="0"/>
              <a:t>x</a:t>
            </a:r>
            <a:r>
              <a:rPr dirty="0" spc="-75"/>
              <a:t> </a:t>
            </a:r>
            <a:r>
              <a:rPr dirty="0"/>
              <a:t>550</a:t>
            </a:r>
            <a:r>
              <a:rPr dirty="0" spc="-70"/>
              <a:t> </a:t>
            </a:r>
            <a:r>
              <a:rPr dirty="0"/>
              <a:t>Hp</a:t>
            </a:r>
            <a:r>
              <a:rPr dirty="0" spc="-55"/>
              <a:t> </a:t>
            </a:r>
            <a:r>
              <a:rPr dirty="0" spc="-10"/>
              <a:t>Fukuta</a:t>
            </a:r>
            <a:r>
              <a:rPr dirty="0" spc="-75"/>
              <a:t> </a:t>
            </a:r>
            <a:r>
              <a:rPr dirty="0" spc="-10"/>
              <a:t>motors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1053553"/>
            <a:ext cx="11370945" cy="5029200"/>
            <a:chOff x="0" y="1053553"/>
            <a:chExt cx="11370945" cy="50292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53553"/>
              <a:ext cx="2910801" cy="189202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6172" y="1053553"/>
              <a:ext cx="8724188" cy="5028812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3288" y="3715578"/>
              <a:ext cx="1879597" cy="393697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2724530" y="6110732"/>
            <a:ext cx="65862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Sni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plus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d.o.o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Marijana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Stilinovića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55a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10431</a:t>
            </a:r>
            <a:r>
              <a:rPr dirty="0" sz="1800" spc="28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Sveta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Nedelja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Croatia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60041" y="185102"/>
            <a:ext cx="11258550" cy="5820410"/>
            <a:chOff x="460041" y="185102"/>
            <a:chExt cx="11258550" cy="582041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70061" y="852893"/>
              <a:ext cx="7475753" cy="515220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0041" y="1212303"/>
              <a:ext cx="1905000" cy="106678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0660" rIns="0" bIns="0" rtlCol="0" vert="horz">
            <a:spAutoFit/>
          </a:bodyPr>
          <a:lstStyle/>
          <a:p>
            <a:pPr marL="292354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80"/>
              <a:t> </a:t>
            </a:r>
            <a:r>
              <a:rPr dirty="0" spc="-10"/>
              <a:t>Lynx</a:t>
            </a:r>
            <a:r>
              <a:rPr dirty="0" spc="-90"/>
              <a:t> </a:t>
            </a:r>
            <a:r>
              <a:rPr dirty="0" spc="-10"/>
              <a:t>Nanoq</a:t>
            </a:r>
            <a:r>
              <a:rPr dirty="0" spc="-70"/>
              <a:t> </a:t>
            </a:r>
            <a:r>
              <a:rPr dirty="0" spc="-10"/>
              <a:t>Electric</a:t>
            </a:r>
            <a:r>
              <a:rPr dirty="0" spc="-70"/>
              <a:t> </a:t>
            </a:r>
            <a:r>
              <a:rPr dirty="0"/>
              <a:t>165</a:t>
            </a:r>
            <a:r>
              <a:rPr dirty="0" spc="-75"/>
              <a:t> </a:t>
            </a:r>
            <a:r>
              <a:rPr dirty="0"/>
              <a:t>Hp</a:t>
            </a:r>
            <a:r>
              <a:rPr dirty="0" spc="-60"/>
              <a:t> </a:t>
            </a:r>
            <a:r>
              <a:rPr dirty="0" spc="-10"/>
              <a:t>version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2724530" y="6110732"/>
            <a:ext cx="65862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Sni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plus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d.o.o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Marijana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Stilinovića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55a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10431</a:t>
            </a:r>
            <a:r>
              <a:rPr dirty="0" sz="1800" spc="28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Sveta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Nedelja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Croatia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737611" y="6128274"/>
            <a:ext cx="6560820" cy="279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5"/>
              </a:lnSpc>
            </a:pPr>
            <a:r>
              <a:rPr dirty="0" sz="1800">
                <a:latin typeface="Calibri"/>
                <a:cs typeface="Calibri"/>
              </a:rPr>
              <a:t>Sni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plus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d.o.o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Marijana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Stilinovića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55a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10431</a:t>
            </a:r>
            <a:r>
              <a:rPr dirty="0" sz="1800" spc="28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Sveta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Nedelja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Croatia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432023" y="185102"/>
            <a:ext cx="11286490" cy="6240780"/>
            <a:chOff x="432023" y="185102"/>
            <a:chExt cx="11286490" cy="624078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04209" y="185102"/>
              <a:ext cx="2314016" cy="717486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1730" y="902601"/>
              <a:ext cx="10472978" cy="552298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2023" y="287845"/>
              <a:ext cx="1422392" cy="1422400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5486323" y="356108"/>
            <a:ext cx="33712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alibri"/>
                <a:cs typeface="Calibri"/>
              </a:rPr>
              <a:t>Porsche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356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carbon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fibre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made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35">
                <a:latin typeface="Calibri"/>
                <a:cs typeface="Calibri"/>
              </a:rPr>
              <a:t>by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737611" y="6128274"/>
            <a:ext cx="6560820" cy="279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5"/>
              </a:lnSpc>
            </a:pPr>
            <a:r>
              <a:rPr dirty="0" sz="1800">
                <a:latin typeface="Calibri"/>
                <a:cs typeface="Calibri"/>
              </a:rPr>
              <a:t>Sni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plus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d.o.o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Marijana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Stilinovića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55a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10431</a:t>
            </a:r>
            <a:r>
              <a:rPr dirty="0" sz="1800" spc="28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Sveta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Nedelja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Croatia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432023" y="185102"/>
            <a:ext cx="11286490" cy="6487795"/>
            <a:chOff x="432023" y="185102"/>
            <a:chExt cx="11286490" cy="648779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04209" y="185102"/>
              <a:ext cx="2314016" cy="717486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0377" y="902601"/>
              <a:ext cx="10367924" cy="5770298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2023" y="287845"/>
              <a:ext cx="1422392" cy="1422400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6413081" y="340867"/>
            <a:ext cx="22879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0">
                <a:latin typeface="Calibri"/>
                <a:cs typeface="Calibri"/>
              </a:rPr>
              <a:t>Tedson</a:t>
            </a:r>
            <a:r>
              <a:rPr dirty="0" sz="1800" spc="-10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Porsche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made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by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4210" y="185102"/>
            <a:ext cx="2314016" cy="71748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6413081" y="340867"/>
            <a:ext cx="22879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0">
                <a:latin typeface="Calibri"/>
                <a:cs typeface="Calibri"/>
              </a:rPr>
              <a:t>Tedson</a:t>
            </a:r>
            <a:r>
              <a:rPr dirty="0" sz="1800" spc="-10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Porsche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made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by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432023" y="287845"/>
            <a:ext cx="10966450" cy="6570345"/>
            <a:chOff x="432023" y="287845"/>
            <a:chExt cx="10966450" cy="6570345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932" y="1008519"/>
              <a:ext cx="10604126" cy="5849478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2023" y="287845"/>
              <a:ext cx="1422392" cy="1422400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2724530" y="6110732"/>
            <a:ext cx="65862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Sni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plus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d.o.o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Marijana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Stilinovića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55a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10431</a:t>
            </a:r>
            <a:r>
              <a:rPr dirty="0" sz="1800" spc="28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Sveta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Nedelja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Croatia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6653" rIns="0" bIns="0" rtlCol="0" vert="horz">
            <a:spAutoFit/>
          </a:bodyPr>
          <a:lstStyle/>
          <a:p>
            <a:pPr marL="3731260">
              <a:lnSpc>
                <a:spcPct val="100000"/>
              </a:lnSpc>
              <a:spcBef>
                <a:spcPts val="100"/>
              </a:spcBef>
            </a:pPr>
            <a:r>
              <a:rPr dirty="0" spc="-45"/>
              <a:t>Tedson</a:t>
            </a:r>
            <a:r>
              <a:rPr dirty="0" spc="-100"/>
              <a:t> </a:t>
            </a:r>
            <a:r>
              <a:rPr dirty="0" spc="-20"/>
              <a:t>Porsche</a:t>
            </a:r>
            <a:r>
              <a:rPr dirty="0" spc="-85"/>
              <a:t> </a:t>
            </a:r>
            <a:r>
              <a:rPr dirty="0"/>
              <a:t>Safari</a:t>
            </a:r>
            <a:r>
              <a:rPr dirty="0" spc="-65"/>
              <a:t> </a:t>
            </a:r>
            <a:r>
              <a:rPr dirty="0" spc="-10"/>
              <a:t>replica</a:t>
            </a:r>
            <a:r>
              <a:rPr dirty="0" spc="-55"/>
              <a:t> </a:t>
            </a:r>
            <a:r>
              <a:rPr dirty="0"/>
              <a:t>made</a:t>
            </a:r>
            <a:r>
              <a:rPr dirty="0" spc="-55"/>
              <a:t> </a:t>
            </a:r>
            <a:r>
              <a:rPr dirty="0" spc="-25"/>
              <a:t>by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32023" y="185102"/>
            <a:ext cx="11286490" cy="5847080"/>
            <a:chOff x="432023" y="185102"/>
            <a:chExt cx="11286490" cy="584708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3182" y="785196"/>
              <a:ext cx="9327321" cy="524661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04209" y="185102"/>
              <a:ext cx="2314016" cy="717486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2023" y="287845"/>
              <a:ext cx="1422392" cy="1422400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2724530" y="6110732"/>
            <a:ext cx="65862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Sni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plus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d.o.o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Marijana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Stilinovića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55a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10431</a:t>
            </a:r>
            <a:r>
              <a:rPr dirty="0" sz="1800" spc="28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Sveta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Nedelja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Croatia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32023" y="185102"/>
            <a:ext cx="11286490" cy="5873115"/>
            <a:chOff x="432023" y="185102"/>
            <a:chExt cx="11286490" cy="587311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5400" y="800099"/>
              <a:ext cx="9347200" cy="525779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2023" y="287845"/>
              <a:ext cx="1422392" cy="14224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6653" rIns="0" bIns="0" rtlCol="0" vert="horz">
            <a:spAutoFit/>
          </a:bodyPr>
          <a:lstStyle/>
          <a:p>
            <a:pPr marL="3731260">
              <a:lnSpc>
                <a:spcPct val="100000"/>
              </a:lnSpc>
              <a:spcBef>
                <a:spcPts val="100"/>
              </a:spcBef>
            </a:pPr>
            <a:r>
              <a:rPr dirty="0" spc="-45"/>
              <a:t>Tedson</a:t>
            </a:r>
            <a:r>
              <a:rPr dirty="0" spc="-100"/>
              <a:t> </a:t>
            </a:r>
            <a:r>
              <a:rPr dirty="0" spc="-20"/>
              <a:t>Porsche</a:t>
            </a:r>
            <a:r>
              <a:rPr dirty="0" spc="-85"/>
              <a:t> </a:t>
            </a:r>
            <a:r>
              <a:rPr dirty="0"/>
              <a:t>Safari</a:t>
            </a:r>
            <a:r>
              <a:rPr dirty="0" spc="-65"/>
              <a:t> </a:t>
            </a:r>
            <a:r>
              <a:rPr dirty="0" spc="-10"/>
              <a:t>replica</a:t>
            </a:r>
            <a:r>
              <a:rPr dirty="0" spc="-55"/>
              <a:t> </a:t>
            </a:r>
            <a:r>
              <a:rPr dirty="0"/>
              <a:t>made</a:t>
            </a:r>
            <a:r>
              <a:rPr dirty="0" spc="-55"/>
              <a:t> </a:t>
            </a:r>
            <a:r>
              <a:rPr dirty="0" spc="-25"/>
              <a:t>by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2724530" y="6110732"/>
            <a:ext cx="65862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Sni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plus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d.o.o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Marijana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Stilinovića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55a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10431</a:t>
            </a:r>
            <a:r>
              <a:rPr dirty="0" sz="1800" spc="28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Sveta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Nedelja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Croatia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4210" y="185102"/>
            <a:ext cx="2314016" cy="71748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5561076" y="327930"/>
            <a:ext cx="3488690" cy="279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5"/>
              </a:lnSpc>
            </a:pPr>
            <a:r>
              <a:rPr dirty="0" sz="1800" spc="-45">
                <a:latin typeface="Calibri"/>
                <a:cs typeface="Calibri"/>
              </a:rPr>
              <a:t>Tedson</a:t>
            </a:r>
            <a:r>
              <a:rPr dirty="0" sz="1800" spc="-10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Porsche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Safari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replica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made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by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304800" y="304380"/>
            <a:ext cx="8763635" cy="5631180"/>
            <a:chOff x="304800" y="304380"/>
            <a:chExt cx="8763635" cy="563118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0127" y="608756"/>
              <a:ext cx="8677980" cy="5326598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4800" y="304380"/>
              <a:ext cx="1657350" cy="1657350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2724530" y="6110732"/>
            <a:ext cx="65862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Sni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plus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d.o.o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Marijana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Stilinovića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55a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10431</a:t>
            </a:r>
            <a:r>
              <a:rPr dirty="0" sz="1800" spc="28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Sveta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Nedelja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Croatia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4210" y="185102"/>
            <a:ext cx="2314016" cy="717486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3791965" y="0"/>
            <a:ext cx="8168640" cy="6858000"/>
            <a:chOff x="3791965" y="0"/>
            <a:chExt cx="8168640" cy="685800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91965" y="0"/>
              <a:ext cx="4608042" cy="6857997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91703" y="1006728"/>
              <a:ext cx="3968610" cy="5053914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5670118" y="356108"/>
            <a:ext cx="21894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Electric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Carver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made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by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4368" y="521652"/>
            <a:ext cx="1879592" cy="393687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1669" y="1024750"/>
            <a:ext cx="3784269" cy="502381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4210" y="185102"/>
            <a:ext cx="2314016" cy="71748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5670118" y="356108"/>
            <a:ext cx="21894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Electric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Carver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made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by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4368" y="521652"/>
            <a:ext cx="1879592" cy="393687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244368" y="1006728"/>
            <a:ext cx="11716385" cy="5330190"/>
            <a:chOff x="244368" y="1006728"/>
            <a:chExt cx="11716385" cy="533019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4368" y="1216482"/>
              <a:ext cx="8992836" cy="511987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91703" y="1006728"/>
              <a:ext cx="3968610" cy="505391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5045" rIns="0" bIns="0" rtlCol="0" vert="horz">
            <a:spAutoFit/>
          </a:bodyPr>
          <a:lstStyle/>
          <a:p>
            <a:pPr marL="1992630">
              <a:lnSpc>
                <a:spcPct val="100000"/>
              </a:lnSpc>
              <a:spcBef>
                <a:spcPts val="100"/>
              </a:spcBef>
            </a:pPr>
            <a:r>
              <a:rPr dirty="0" spc="-35"/>
              <a:t>Autonomous</a:t>
            </a:r>
            <a:r>
              <a:rPr dirty="0" spc="-80"/>
              <a:t> </a:t>
            </a:r>
            <a:r>
              <a:rPr dirty="0"/>
              <a:t>Docking</a:t>
            </a:r>
            <a:r>
              <a:rPr dirty="0" spc="-35"/>
              <a:t> </a:t>
            </a:r>
            <a:r>
              <a:rPr dirty="0" spc="-20"/>
              <a:t>Truck</a:t>
            </a:r>
            <a:r>
              <a:rPr dirty="0" spc="-80"/>
              <a:t> </a:t>
            </a:r>
            <a:r>
              <a:rPr dirty="0"/>
              <a:t>made</a:t>
            </a:r>
            <a:r>
              <a:rPr dirty="0" spc="-25"/>
              <a:t> by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350108" y="976754"/>
            <a:ext cx="11368405" cy="5881370"/>
            <a:chOff x="350108" y="976754"/>
            <a:chExt cx="11368405" cy="588137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7625" y="976754"/>
              <a:ext cx="5770600" cy="5881243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0108" y="986675"/>
              <a:ext cx="5745886" cy="5871322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2724530" y="6110732"/>
            <a:ext cx="65862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Sni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plus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d.o.o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Marijana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Stilinovića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55a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10431</a:t>
            </a:r>
            <a:r>
              <a:rPr dirty="0" sz="1800" spc="28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Sveta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Nedelja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Croatia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7200" y="322579"/>
            <a:ext cx="304800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0389" rIns="0" bIns="0" rtlCol="0" vert="horz">
            <a:spAutoFit/>
          </a:bodyPr>
          <a:lstStyle/>
          <a:p>
            <a:pPr marL="206248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Docking</a:t>
            </a:r>
            <a:r>
              <a:rPr dirty="0" spc="-55"/>
              <a:t> </a:t>
            </a:r>
            <a:r>
              <a:rPr dirty="0"/>
              <a:t>3</a:t>
            </a:r>
            <a:r>
              <a:rPr dirty="0" spc="-50"/>
              <a:t> </a:t>
            </a:r>
            <a:r>
              <a:rPr dirty="0" spc="-10"/>
              <a:t>Seater</a:t>
            </a:r>
            <a:r>
              <a:rPr dirty="0" spc="-65"/>
              <a:t> </a:t>
            </a:r>
            <a:r>
              <a:rPr dirty="0"/>
              <a:t>car</a:t>
            </a:r>
            <a:r>
              <a:rPr dirty="0" spc="-65"/>
              <a:t> </a:t>
            </a:r>
            <a:r>
              <a:rPr dirty="0"/>
              <a:t>made</a:t>
            </a:r>
            <a:r>
              <a:rPr dirty="0" spc="-45"/>
              <a:t> </a:t>
            </a:r>
            <a:r>
              <a:rPr dirty="0" spc="-25"/>
              <a:t>by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1198181"/>
            <a:ext cx="12192000" cy="4229100"/>
            <a:chOff x="0" y="1198181"/>
            <a:chExt cx="12192000" cy="42291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0572" y="1198181"/>
              <a:ext cx="6441427" cy="422868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198181"/>
              <a:ext cx="6400419" cy="4228680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2724530" y="6110732"/>
            <a:ext cx="65862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Sni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plus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d.o.o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Marijana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Stilinovića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55a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10431</a:t>
            </a:r>
            <a:r>
              <a:rPr dirty="0" sz="1800" spc="28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Sveta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Nedelja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Croatia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7200" y="322579"/>
            <a:ext cx="304800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9324" rIns="0" bIns="0" rtlCol="0" vert="horz">
            <a:spAutoFit/>
          </a:bodyPr>
          <a:lstStyle/>
          <a:p>
            <a:pPr marL="294005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Panasonic</a:t>
            </a:r>
            <a:r>
              <a:rPr dirty="0" spc="-70"/>
              <a:t> </a:t>
            </a:r>
            <a:r>
              <a:rPr dirty="0" spc="-20"/>
              <a:t>autonomous</a:t>
            </a:r>
            <a:r>
              <a:rPr dirty="0" spc="-95"/>
              <a:t> </a:t>
            </a:r>
            <a:r>
              <a:rPr dirty="0"/>
              <a:t>cabin</a:t>
            </a:r>
            <a:r>
              <a:rPr dirty="0" spc="-30"/>
              <a:t> </a:t>
            </a:r>
            <a:r>
              <a:rPr dirty="0"/>
              <a:t>made</a:t>
            </a:r>
            <a:r>
              <a:rPr dirty="0" spc="-55"/>
              <a:t> </a:t>
            </a:r>
            <a:r>
              <a:rPr dirty="0" spc="-25"/>
              <a:t>by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3763" y="998080"/>
            <a:ext cx="11469265" cy="5859917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6598" y="203779"/>
            <a:ext cx="3020288" cy="617072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724530" y="6110732"/>
            <a:ext cx="65862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Sni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plus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d.o.o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Marijana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Stilinovića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55a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10431</a:t>
            </a:r>
            <a:r>
              <a:rPr dirty="0" sz="1800" spc="28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Sveta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Nedelja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Croatia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4210" y="185102"/>
            <a:ext cx="2314016" cy="71748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5400" y="317093"/>
            <a:ext cx="6571183" cy="6260119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1887200" cy="6858000"/>
            <a:chOff x="0" y="0"/>
            <a:chExt cx="118872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04210" y="185102"/>
              <a:ext cx="2314016" cy="717486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1696700" cy="685800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44000" y="0"/>
              <a:ext cx="2743200" cy="111404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04210" y="185102"/>
              <a:ext cx="2314016" cy="717486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04210" y="185102"/>
              <a:ext cx="2314016" cy="717486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4210" y="185102"/>
            <a:ext cx="2314016" cy="717486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0" y="0"/>
            <a:ext cx="11506200" cy="6858000"/>
            <a:chOff x="0" y="0"/>
            <a:chExt cx="11506200" cy="685800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36447"/>
              <a:ext cx="8887968" cy="6321552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81400" y="0"/>
              <a:ext cx="7924800" cy="65410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319" y="481583"/>
            <a:ext cx="7303008" cy="577900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13064" y="5477255"/>
            <a:ext cx="2993135" cy="36575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9176" y="179831"/>
            <a:ext cx="2316479" cy="69494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491480" y="5872226"/>
            <a:ext cx="302006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38120" algn="l"/>
              </a:tabLst>
            </a:pPr>
            <a:r>
              <a:rPr dirty="0" sz="750">
                <a:solidFill>
                  <a:srgbClr val="0C0C0C"/>
                </a:solidFill>
                <a:latin typeface="Lucida Sans Unicode"/>
                <a:cs typeface="Lucida Sans Unicode"/>
              </a:rPr>
              <a:t>DO</a:t>
            </a:r>
            <a:r>
              <a:rPr dirty="0" sz="750" spc="385">
                <a:solidFill>
                  <a:srgbClr val="0C0C0C"/>
                </a:solidFill>
                <a:latin typeface="Lucida Sans Unicode"/>
                <a:cs typeface="Lucida Sans Unicode"/>
              </a:rPr>
              <a:t> </a:t>
            </a:r>
            <a:r>
              <a:rPr dirty="0" sz="750">
                <a:latin typeface="Lucida Sans Unicode"/>
                <a:cs typeface="Lucida Sans Unicode"/>
              </a:rPr>
              <a:t>ł’J’T</a:t>
            </a:r>
            <a:r>
              <a:rPr dirty="0" sz="750" spc="80">
                <a:latin typeface="Lucida Sans Unicode"/>
                <a:cs typeface="Lucida Sans Unicode"/>
              </a:rPr>
              <a:t> </a:t>
            </a:r>
            <a:r>
              <a:rPr dirty="0" sz="750">
                <a:latin typeface="Lucida Sans Unicode"/>
                <a:cs typeface="Lucida Sans Unicode"/>
              </a:rPr>
              <a:t>ž3Ef’J</a:t>
            </a:r>
            <a:r>
              <a:rPr dirty="0" sz="750" spc="-160">
                <a:latin typeface="Lucida Sans Unicode"/>
                <a:cs typeface="Lucida Sans Unicode"/>
              </a:rPr>
              <a:t> </a:t>
            </a:r>
            <a:r>
              <a:rPr dirty="0" sz="750">
                <a:solidFill>
                  <a:srgbClr val="070707"/>
                </a:solidFill>
                <a:latin typeface="Lucida Sans Unicode"/>
                <a:cs typeface="Lucida Sans Unicode"/>
              </a:rPr>
              <a:t>D</a:t>
            </a:r>
            <a:r>
              <a:rPr dirty="0" sz="750" spc="185">
                <a:solidFill>
                  <a:srgbClr val="070707"/>
                </a:solidFill>
                <a:latin typeface="Lucida Sans Unicode"/>
                <a:cs typeface="Lucida Sans Unicode"/>
              </a:rPr>
              <a:t> </a:t>
            </a:r>
            <a:r>
              <a:rPr dirty="0" sz="750">
                <a:solidFill>
                  <a:srgbClr val="050505"/>
                </a:solidFill>
                <a:latin typeface="Lucida Sans Unicode"/>
                <a:cs typeface="Lucida Sans Unicode"/>
              </a:rPr>
              <a:t>A</a:t>
            </a:r>
            <a:r>
              <a:rPr dirty="0" sz="750" spc="229">
                <a:solidFill>
                  <a:srgbClr val="050505"/>
                </a:solidFill>
                <a:latin typeface="Lucida Sans Unicode"/>
                <a:cs typeface="Lucida Sans Unicode"/>
              </a:rPr>
              <a:t> </a:t>
            </a:r>
            <a:r>
              <a:rPr dirty="0" sz="750">
                <a:latin typeface="Lucida Sans Unicode"/>
                <a:cs typeface="Lucida Sans Unicode"/>
              </a:rPr>
              <a:t>MA</a:t>
            </a:r>
            <a:r>
              <a:rPr dirty="0" sz="750" spc="280">
                <a:latin typeface="Lucida Sans Unicode"/>
                <a:cs typeface="Lucida Sans Unicode"/>
              </a:rPr>
              <a:t> </a:t>
            </a:r>
            <a:r>
              <a:rPr dirty="0" sz="750">
                <a:latin typeface="Lucida Sans Unicode"/>
                <a:cs typeface="Lucida Sans Unicode"/>
              </a:rPr>
              <a:t>ł’J</a:t>
            </a:r>
            <a:r>
              <a:rPr dirty="0" sz="750" spc="40">
                <a:latin typeface="Lucida Sans Unicode"/>
                <a:cs typeface="Lucida Sans Unicode"/>
              </a:rPr>
              <a:t> </a:t>
            </a:r>
            <a:r>
              <a:rPr dirty="0" sz="750">
                <a:latin typeface="Lucida Sans Unicode"/>
                <a:cs typeface="Lucida Sans Unicode"/>
              </a:rPr>
              <a:t>TD</a:t>
            </a:r>
            <a:r>
              <a:rPr dirty="0" sz="750" spc="430">
                <a:latin typeface="Lucida Sans Unicode"/>
                <a:cs typeface="Lucida Sans Unicode"/>
              </a:rPr>
              <a:t> </a:t>
            </a:r>
            <a:r>
              <a:rPr dirty="0" sz="750">
                <a:latin typeface="Lucida Sans Unicode"/>
                <a:cs typeface="Lucida Sans Unicode"/>
              </a:rPr>
              <a:t>DO</a:t>
            </a:r>
            <a:r>
              <a:rPr dirty="0" sz="750" spc="180">
                <a:latin typeface="Lucida Sans Unicode"/>
                <a:cs typeface="Lucida Sans Unicode"/>
              </a:rPr>
              <a:t>  </a:t>
            </a:r>
            <a:r>
              <a:rPr dirty="0" sz="750">
                <a:latin typeface="Lucida Sans Unicode"/>
                <a:cs typeface="Lucida Sans Unicode"/>
              </a:rPr>
              <a:t>A</a:t>
            </a:r>
            <a:r>
              <a:rPr dirty="0" sz="750" spc="210">
                <a:latin typeface="Lucida Sans Unicode"/>
                <a:cs typeface="Lucida Sans Unicode"/>
              </a:rPr>
              <a:t> </a:t>
            </a:r>
            <a:r>
              <a:rPr dirty="0" sz="750" spc="-40">
                <a:latin typeface="Lucida Sans Unicode"/>
                <a:cs typeface="Lucida Sans Unicode"/>
              </a:rPr>
              <a:t>P </a:t>
            </a:r>
            <a:r>
              <a:rPr dirty="0" sz="750">
                <a:latin typeface="Lucida Sans Unicode"/>
                <a:cs typeface="Lucida Sans Unicode"/>
              </a:rPr>
              <a:t>IAC</a:t>
            </a:r>
            <a:r>
              <a:rPr dirty="0" sz="750" spc="235">
                <a:latin typeface="Lucida Sans Unicode"/>
                <a:cs typeface="Lucida Sans Unicode"/>
              </a:rPr>
              <a:t> </a:t>
            </a:r>
            <a:r>
              <a:rPr dirty="0" sz="750">
                <a:latin typeface="Lucida Sans Unicode"/>
                <a:cs typeface="Lucida Sans Unicode"/>
              </a:rPr>
              <a:t>H</a:t>
            </a:r>
            <a:r>
              <a:rPr dirty="0" sz="750" spc="375">
                <a:latin typeface="Lucida Sans Unicode"/>
                <a:cs typeface="Lucida Sans Unicode"/>
              </a:rPr>
              <a:t> </a:t>
            </a:r>
            <a:r>
              <a:rPr dirty="0" sz="750" spc="-10">
                <a:latin typeface="Lucida Sans Unicode"/>
                <a:cs typeface="Lucida Sans Unicode"/>
              </a:rPr>
              <a:t>I</a:t>
            </a:r>
            <a:r>
              <a:rPr dirty="0" sz="750" spc="-10">
                <a:solidFill>
                  <a:srgbClr val="070707"/>
                </a:solidFill>
                <a:latin typeface="Lucida Sans Unicode"/>
                <a:cs typeface="Lucida Sans Unicode"/>
              </a:rPr>
              <a:t>Pd</a:t>
            </a:r>
            <a:r>
              <a:rPr dirty="0" sz="750" spc="-10">
                <a:solidFill>
                  <a:srgbClr val="050505"/>
                </a:solidFill>
                <a:latin typeface="Lucida Sans Unicode"/>
                <a:cs typeface="Lucida Sans Unicode"/>
              </a:rPr>
              <a:t>E'ž</a:t>
            </a:r>
            <a:r>
              <a:rPr dirty="0" sz="750">
                <a:solidFill>
                  <a:srgbClr val="050505"/>
                </a:solidFill>
                <a:latin typeface="Lucida Sans Unicode"/>
                <a:cs typeface="Lucida Sans Unicode"/>
              </a:rPr>
              <a:t>	</a:t>
            </a:r>
            <a:r>
              <a:rPr dirty="0" sz="750">
                <a:solidFill>
                  <a:srgbClr val="070707"/>
                </a:solidFill>
                <a:latin typeface="Lucida Sans Unicode"/>
                <a:cs typeface="Lucida Sans Unicode"/>
              </a:rPr>
              <a:t>C</a:t>
            </a:r>
            <a:r>
              <a:rPr dirty="0" sz="750">
                <a:solidFill>
                  <a:srgbClr val="050505"/>
                </a:solidFill>
                <a:latin typeface="Lucida Sans Unicode"/>
                <a:cs typeface="Lucida Sans Unicode"/>
              </a:rPr>
              <a:t>0</a:t>
            </a:r>
            <a:r>
              <a:rPr dirty="0" sz="750" spc="229">
                <a:solidFill>
                  <a:srgbClr val="050505"/>
                </a:solidFill>
                <a:latin typeface="Lucida Sans Unicode"/>
                <a:cs typeface="Lucida Sans Unicode"/>
              </a:rPr>
              <a:t> </a:t>
            </a:r>
            <a:r>
              <a:rPr dirty="0" sz="750" spc="-50">
                <a:solidFill>
                  <a:srgbClr val="070707"/>
                </a:solidFill>
                <a:latin typeface="Lucida Sans Unicode"/>
                <a:cs typeface="Lucida Sans Unicode"/>
              </a:rPr>
              <a:t>Ø</a:t>
            </a:r>
            <a:endParaRPr sz="7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4210" y="185102"/>
            <a:ext cx="2314016" cy="717486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419100" y="357187"/>
            <a:ext cx="8143875" cy="6501130"/>
            <a:chOff x="419100" y="357187"/>
            <a:chExt cx="8143875" cy="650113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96170" y="357187"/>
              <a:ext cx="5866804" cy="6500812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2286000" y="914400"/>
              <a:ext cx="3124200" cy="1524000"/>
            </a:xfrm>
            <a:custGeom>
              <a:avLst/>
              <a:gdLst/>
              <a:ahLst/>
              <a:cxnLst/>
              <a:rect l="l" t="t" r="r" b="b"/>
              <a:pathLst>
                <a:path w="3124200" h="1524000">
                  <a:moveTo>
                    <a:pt x="3124200" y="0"/>
                  </a:moveTo>
                  <a:lnTo>
                    <a:pt x="0" y="0"/>
                  </a:lnTo>
                  <a:lnTo>
                    <a:pt x="0" y="1524000"/>
                  </a:lnTo>
                  <a:lnTo>
                    <a:pt x="3124200" y="1524000"/>
                  </a:lnTo>
                  <a:lnTo>
                    <a:pt x="3124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286000" y="914400"/>
              <a:ext cx="3124200" cy="1524000"/>
            </a:xfrm>
            <a:custGeom>
              <a:avLst/>
              <a:gdLst/>
              <a:ahLst/>
              <a:cxnLst/>
              <a:rect l="l" t="t" r="r" b="b"/>
              <a:pathLst>
                <a:path w="3124200" h="1524000">
                  <a:moveTo>
                    <a:pt x="0" y="0"/>
                  </a:moveTo>
                  <a:lnTo>
                    <a:pt x="3124201" y="0"/>
                  </a:lnTo>
                  <a:lnTo>
                    <a:pt x="3124201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9100" y="381000"/>
              <a:ext cx="3581400" cy="18285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7999"/>
                </a:lnTo>
                <a:lnTo>
                  <a:pt x="12192000" y="68579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882592" y="0"/>
            <a:ext cx="10625455" cy="6423660"/>
            <a:chOff x="882592" y="0"/>
            <a:chExt cx="10625455" cy="642366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592" y="312229"/>
              <a:ext cx="10625461" cy="611087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2592" y="0"/>
              <a:ext cx="1829136" cy="174843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7999"/>
                </a:lnTo>
                <a:lnTo>
                  <a:pt x="12192000" y="68579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882592" y="0"/>
            <a:ext cx="10603230" cy="6423660"/>
            <a:chOff x="882592" y="0"/>
            <a:chExt cx="10603230" cy="642366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592" y="0"/>
              <a:ext cx="1829136" cy="174843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8808" y="312229"/>
              <a:ext cx="10586944" cy="611087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592" y="0"/>
              <a:ext cx="1829136" cy="174843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7999"/>
                </a:lnTo>
                <a:lnTo>
                  <a:pt x="12192000" y="68579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882591" y="0"/>
            <a:ext cx="10622280" cy="6423660"/>
            <a:chOff x="882591" y="0"/>
            <a:chExt cx="10622280" cy="642366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592" y="0"/>
              <a:ext cx="1829136" cy="174843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2591" y="356844"/>
              <a:ext cx="10622198" cy="6066257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592" y="0"/>
              <a:ext cx="1829136" cy="174843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7999"/>
                </a:lnTo>
                <a:lnTo>
                  <a:pt x="12192000" y="68579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7424" y="212178"/>
            <a:ext cx="4937150" cy="6433642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2592" y="0"/>
            <a:ext cx="1829136" cy="1748434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801" y="0"/>
            <a:ext cx="5054396" cy="6495017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2592" y="0"/>
            <a:ext cx="1829136" cy="1748434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7999"/>
                </a:lnTo>
                <a:lnTo>
                  <a:pt x="12192000" y="68579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2383" y="334009"/>
            <a:ext cx="5047234" cy="618997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2592" y="0"/>
            <a:ext cx="1829136" cy="1748434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7999"/>
                </a:lnTo>
                <a:lnTo>
                  <a:pt x="12192000" y="68579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8029" y="330593"/>
            <a:ext cx="5015941" cy="6196817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2592" y="0"/>
            <a:ext cx="1829136" cy="1748434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7999"/>
                </a:lnTo>
                <a:lnTo>
                  <a:pt x="12192000" y="68579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6820" y="253695"/>
            <a:ext cx="4758359" cy="6350613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2592" y="0"/>
            <a:ext cx="1829136" cy="1748434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7999"/>
                </a:lnTo>
                <a:lnTo>
                  <a:pt x="12192000" y="68579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97998" y="289928"/>
            <a:ext cx="4796002" cy="620008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2592" y="0"/>
            <a:ext cx="1829136" cy="1748434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7999"/>
                </a:lnTo>
                <a:lnTo>
                  <a:pt x="12192000" y="68579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67785" y="250901"/>
            <a:ext cx="4856429" cy="6283712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2592" y="0"/>
            <a:ext cx="1829136" cy="1748434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7999"/>
                </a:lnTo>
                <a:lnTo>
                  <a:pt x="12192000" y="68579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875159" y="0"/>
            <a:ext cx="10610850" cy="6410325"/>
            <a:chOff x="875159" y="0"/>
            <a:chExt cx="10610850" cy="64103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5159" y="334543"/>
              <a:ext cx="10610593" cy="607574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2592" y="0"/>
              <a:ext cx="1829136" cy="174843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7999"/>
                </a:lnTo>
                <a:lnTo>
                  <a:pt x="12192000" y="68579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882592" y="0"/>
            <a:ext cx="10568940" cy="5910580"/>
            <a:chOff x="882592" y="0"/>
            <a:chExt cx="10568940" cy="591058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592" y="405866"/>
              <a:ext cx="10568317" cy="550428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2592" y="0"/>
              <a:ext cx="1829136" cy="174843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" y="1"/>
            <a:ext cx="12191140" cy="685751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00747" y="1135380"/>
            <a:ext cx="2575560" cy="1491615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299"/>
              </a:lnSpc>
              <a:spcBef>
                <a:spcPts val="85"/>
              </a:spcBef>
            </a:pPr>
            <a:r>
              <a:rPr dirty="0" sz="3200" spc="-105">
                <a:latin typeface="Arial MT"/>
                <a:cs typeface="Arial MT"/>
              </a:rPr>
              <a:t>LASTMILE </a:t>
            </a:r>
            <a:r>
              <a:rPr dirty="0" sz="3200" spc="-415">
                <a:latin typeface="Arial MT"/>
                <a:cs typeface="Arial MT"/>
              </a:rPr>
              <a:t>TO</a:t>
            </a:r>
            <a:r>
              <a:rPr dirty="0" sz="3200" spc="-409">
                <a:latin typeface="Arial MT"/>
                <a:cs typeface="Arial MT"/>
              </a:rPr>
              <a:t>W</a:t>
            </a:r>
            <a:r>
              <a:rPr dirty="0" sz="3200" spc="-415">
                <a:latin typeface="Arial MT"/>
                <a:cs typeface="Arial MT"/>
              </a:rPr>
              <a:t>ARD</a:t>
            </a:r>
            <a:r>
              <a:rPr dirty="0" sz="3200" spc="95">
                <a:latin typeface="Arial MT"/>
                <a:cs typeface="Arial MT"/>
              </a:rPr>
              <a:t>S</a:t>
            </a:r>
            <a:r>
              <a:rPr dirty="0" sz="3200" spc="-275">
                <a:latin typeface="Arial MT"/>
                <a:cs typeface="Arial MT"/>
              </a:rPr>
              <a:t>T</a:t>
            </a:r>
            <a:r>
              <a:rPr dirty="0" sz="3200" spc="-270">
                <a:latin typeface="Arial MT"/>
                <a:cs typeface="Arial MT"/>
              </a:rPr>
              <a:t>H</a:t>
            </a:r>
            <a:r>
              <a:rPr dirty="0" sz="3200" spc="-25">
                <a:latin typeface="Arial MT"/>
                <a:cs typeface="Arial MT"/>
              </a:rPr>
              <a:t>E</a:t>
            </a:r>
            <a:r>
              <a:rPr dirty="0" sz="3200" spc="-300">
                <a:latin typeface="Arial MT"/>
                <a:cs typeface="Arial MT"/>
              </a:rPr>
              <a:t> </a:t>
            </a:r>
            <a:r>
              <a:rPr dirty="0" sz="3200" spc="-320">
                <a:latin typeface="Arial MT"/>
                <a:cs typeface="Arial MT"/>
              </a:rPr>
              <a:t>FUTURE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400747" y="3308096"/>
            <a:ext cx="3925570" cy="1826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6520">
              <a:lnSpc>
                <a:spcPct val="100000"/>
              </a:lnSpc>
              <a:spcBef>
                <a:spcPts val="100"/>
              </a:spcBef>
            </a:pPr>
            <a:r>
              <a:rPr dirty="0" sz="1500" spc="-20">
                <a:latin typeface="Arial MT"/>
                <a:cs typeface="Arial MT"/>
              </a:rPr>
              <a:t>LAST</a:t>
            </a:r>
            <a:r>
              <a:rPr dirty="0" sz="1500" spc="-75">
                <a:latin typeface="Arial MT"/>
                <a:cs typeface="Arial MT"/>
              </a:rPr>
              <a:t> </a:t>
            </a:r>
            <a:r>
              <a:rPr dirty="0" sz="1500" spc="-20">
                <a:latin typeface="Arial MT"/>
                <a:cs typeface="Arial MT"/>
              </a:rPr>
              <a:t>MILE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500">
              <a:latin typeface="Arial MT"/>
              <a:cs typeface="Arial MT"/>
            </a:endParaRPr>
          </a:p>
          <a:p>
            <a:pPr marL="12700" marR="5080">
              <a:lnSpc>
                <a:spcPct val="103699"/>
              </a:lnSpc>
            </a:pPr>
            <a:r>
              <a:rPr dirty="0" sz="1600">
                <a:solidFill>
                  <a:srgbClr val="231F20"/>
                </a:solidFill>
                <a:latin typeface="Arial MT"/>
                <a:cs typeface="Arial MT"/>
              </a:rPr>
              <a:t>We</a:t>
            </a:r>
            <a:r>
              <a:rPr dirty="0" sz="1600" spc="-65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45">
                <a:solidFill>
                  <a:srgbClr val="231F20"/>
                </a:solidFill>
                <a:latin typeface="Arial MT"/>
                <a:cs typeface="Arial MT"/>
              </a:rPr>
              <a:t>aim</a:t>
            </a:r>
            <a:r>
              <a:rPr dirty="0" sz="1600" spc="-135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231F20"/>
                </a:solidFill>
                <a:latin typeface="Arial MT"/>
                <a:cs typeface="Arial MT"/>
              </a:rPr>
              <a:t>to</a:t>
            </a:r>
            <a:r>
              <a:rPr dirty="0" sz="1600" spc="-35">
                <a:solidFill>
                  <a:srgbClr val="231F20"/>
                </a:solidFill>
                <a:latin typeface="Arial MT"/>
                <a:cs typeface="Arial MT"/>
              </a:rPr>
              <a:t> tackle</a:t>
            </a:r>
            <a:r>
              <a:rPr dirty="0" sz="1600" spc="-145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231F20"/>
                </a:solidFill>
                <a:latin typeface="Arial MT"/>
                <a:cs typeface="Arial MT"/>
              </a:rPr>
              <a:t>the</a:t>
            </a:r>
            <a:r>
              <a:rPr dirty="0" sz="1600" spc="-8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20">
                <a:solidFill>
                  <a:srgbClr val="231F20"/>
                </a:solidFill>
                <a:latin typeface="Arial MT"/>
                <a:cs typeface="Arial MT"/>
              </a:rPr>
              <a:t>modern</a:t>
            </a:r>
            <a:r>
              <a:rPr dirty="0" sz="1600" spc="-12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50">
                <a:solidFill>
                  <a:srgbClr val="231F20"/>
                </a:solidFill>
                <a:latin typeface="Arial MT"/>
                <a:cs typeface="Arial MT"/>
              </a:rPr>
              <a:t>era</a:t>
            </a:r>
            <a:r>
              <a:rPr dirty="0" sz="1600" spc="-165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25">
                <a:solidFill>
                  <a:srgbClr val="231F20"/>
                </a:solidFill>
                <a:latin typeface="Arial MT"/>
                <a:cs typeface="Arial MT"/>
              </a:rPr>
              <a:t>obstacles</a:t>
            </a:r>
            <a:r>
              <a:rPr dirty="0" sz="1600" spc="-4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25">
                <a:solidFill>
                  <a:srgbClr val="231F20"/>
                </a:solidFill>
                <a:latin typeface="Arial MT"/>
                <a:cs typeface="Arial MT"/>
              </a:rPr>
              <a:t>of </a:t>
            </a:r>
            <a:r>
              <a:rPr dirty="0" sz="1600" spc="-35">
                <a:solidFill>
                  <a:srgbClr val="231F20"/>
                </a:solidFill>
                <a:latin typeface="Arial MT"/>
                <a:cs typeface="Arial MT"/>
              </a:rPr>
              <a:t>personal</a:t>
            </a:r>
            <a:r>
              <a:rPr dirty="0" sz="1600" spc="-14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231F20"/>
                </a:solidFill>
                <a:latin typeface="Arial MT"/>
                <a:cs typeface="Arial MT"/>
              </a:rPr>
              <a:t>transportation</a:t>
            </a:r>
            <a:r>
              <a:rPr dirty="0" sz="1600" spc="-7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231F20"/>
                </a:solidFill>
                <a:latin typeface="Arial MT"/>
                <a:cs typeface="Arial MT"/>
              </a:rPr>
              <a:t>in</a:t>
            </a:r>
            <a:r>
              <a:rPr dirty="0" sz="1600" spc="-85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25">
                <a:solidFill>
                  <a:srgbClr val="231F20"/>
                </a:solidFill>
                <a:latin typeface="Arial MT"/>
                <a:cs typeface="Arial MT"/>
              </a:rPr>
              <a:t>urban</a:t>
            </a:r>
            <a:r>
              <a:rPr dirty="0" sz="1600" spc="-10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231F20"/>
                </a:solidFill>
                <a:latin typeface="Arial MT"/>
                <a:cs typeface="Arial MT"/>
              </a:rPr>
              <a:t>areas.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600">
              <a:latin typeface="Arial MT"/>
              <a:cs typeface="Arial MT"/>
            </a:endParaRPr>
          </a:p>
          <a:p>
            <a:pPr marL="12700" marR="79375">
              <a:lnSpc>
                <a:spcPct val="103699"/>
              </a:lnSpc>
              <a:spcBef>
                <a:spcPts val="5"/>
              </a:spcBef>
            </a:pPr>
            <a:r>
              <a:rPr dirty="0" sz="1600" spc="-45">
                <a:solidFill>
                  <a:srgbClr val="231F20"/>
                </a:solidFill>
                <a:latin typeface="Arial MT"/>
                <a:cs typeface="Arial MT"/>
              </a:rPr>
              <a:t>As</a:t>
            </a:r>
            <a:r>
              <a:rPr dirty="0" sz="1600" spc="-20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25">
                <a:solidFill>
                  <a:srgbClr val="231F20"/>
                </a:solidFill>
                <a:latin typeface="Arial MT"/>
                <a:cs typeface="Arial MT"/>
              </a:rPr>
              <a:t>an</a:t>
            </a:r>
            <a:r>
              <a:rPr dirty="0" sz="1600" spc="-125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25">
                <a:solidFill>
                  <a:srgbClr val="231F20"/>
                </a:solidFill>
                <a:latin typeface="Arial MT"/>
                <a:cs typeface="Arial MT"/>
              </a:rPr>
              <a:t>appropriate</a:t>
            </a:r>
            <a:r>
              <a:rPr dirty="0" sz="1600" spc="-105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20">
                <a:solidFill>
                  <a:srgbClr val="231F20"/>
                </a:solidFill>
                <a:latin typeface="Arial MT"/>
                <a:cs typeface="Arial MT"/>
              </a:rPr>
              <a:t>direction</a:t>
            </a:r>
            <a:r>
              <a:rPr dirty="0" sz="1600" spc="-9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231F20"/>
                </a:solidFill>
                <a:latin typeface="Arial MT"/>
                <a:cs typeface="Arial MT"/>
              </a:rPr>
              <a:t>for</a:t>
            </a:r>
            <a:r>
              <a:rPr dirty="0" sz="1600" spc="-16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231F20"/>
                </a:solidFill>
                <a:latin typeface="Arial MT"/>
                <a:cs typeface="Arial MT"/>
              </a:rPr>
              <a:t>the</a:t>
            </a:r>
            <a:r>
              <a:rPr dirty="0" sz="1600" spc="-6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25">
                <a:solidFill>
                  <a:srgbClr val="231F20"/>
                </a:solidFill>
                <a:latin typeface="Arial MT"/>
                <a:cs typeface="Arial MT"/>
              </a:rPr>
              <a:t>future,</a:t>
            </a:r>
            <a:r>
              <a:rPr dirty="0" sz="1600" spc="-13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25">
                <a:solidFill>
                  <a:srgbClr val="231F20"/>
                </a:solidFill>
                <a:latin typeface="Arial MT"/>
                <a:cs typeface="Arial MT"/>
              </a:rPr>
              <a:t>we </a:t>
            </a:r>
            <a:r>
              <a:rPr dirty="0" sz="1600" spc="-65">
                <a:solidFill>
                  <a:srgbClr val="231F20"/>
                </a:solidFill>
                <a:latin typeface="Arial MT"/>
                <a:cs typeface="Arial MT"/>
              </a:rPr>
              <a:t>see</a:t>
            </a:r>
            <a:r>
              <a:rPr dirty="0" sz="1600" spc="-16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231F20"/>
                </a:solidFill>
                <a:latin typeface="Arial MT"/>
                <a:cs typeface="Arial MT"/>
              </a:rPr>
              <a:t>the</a:t>
            </a:r>
            <a:r>
              <a:rPr dirty="0" sz="1600" spc="-5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231F20"/>
                </a:solidFill>
                <a:latin typeface="Arial MT"/>
                <a:cs typeface="Arial MT"/>
              </a:rPr>
              <a:t>micromobility</a:t>
            </a:r>
            <a:r>
              <a:rPr dirty="0" sz="1600" spc="-15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231F20"/>
                </a:solidFill>
                <a:latin typeface="Arial MT"/>
                <a:cs typeface="Arial MT"/>
              </a:rPr>
              <a:t>concept.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1409" y="0"/>
            <a:ext cx="2117928" cy="1324267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400747" y="3737354"/>
            <a:ext cx="2221865" cy="124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4000" spc="-325">
                <a:solidFill>
                  <a:srgbClr val="231F20"/>
                </a:solidFill>
                <a:latin typeface="Arial MT"/>
                <a:cs typeface="Arial MT"/>
              </a:rPr>
              <a:t>ELECTRIC </a:t>
            </a:r>
            <a:r>
              <a:rPr dirty="0" sz="4000" spc="-440">
                <a:solidFill>
                  <a:srgbClr val="231F20"/>
                </a:solidFill>
                <a:latin typeface="Arial MT"/>
                <a:cs typeface="Arial MT"/>
              </a:rPr>
              <a:t>SCOOTER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 marR="5080">
              <a:lnSpc>
                <a:spcPct val="103800"/>
              </a:lnSpc>
              <a:spcBef>
                <a:spcPts val="25"/>
              </a:spcBef>
            </a:pPr>
            <a:r>
              <a:rPr dirty="0" sz="1600" spc="-35">
                <a:solidFill>
                  <a:srgbClr val="231F20"/>
                </a:solidFill>
                <a:latin typeface="Arial MT"/>
                <a:cs typeface="Arial MT"/>
              </a:rPr>
              <a:t>In</a:t>
            </a:r>
            <a:r>
              <a:rPr dirty="0" sz="1600" spc="-105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231F20"/>
                </a:solidFill>
                <a:latin typeface="Arial MT"/>
                <a:cs typeface="Arial MT"/>
              </a:rPr>
              <a:t>our</a:t>
            </a:r>
            <a:r>
              <a:rPr dirty="0" sz="1600" spc="-165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55">
                <a:solidFill>
                  <a:srgbClr val="231F20"/>
                </a:solidFill>
                <a:latin typeface="Arial MT"/>
                <a:cs typeface="Arial MT"/>
              </a:rPr>
              <a:t>series</a:t>
            </a:r>
            <a:r>
              <a:rPr dirty="0" sz="1600" spc="-135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231F20"/>
                </a:solidFill>
                <a:latin typeface="Arial MT"/>
                <a:cs typeface="Arial MT"/>
              </a:rPr>
              <a:t>of</a:t>
            </a:r>
            <a:r>
              <a:rPr dirty="0" sz="1600" spc="-7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231F20"/>
                </a:solidFill>
                <a:latin typeface="Arial MT"/>
                <a:cs typeface="Arial MT"/>
              </a:rPr>
              <a:t>micromobility</a:t>
            </a:r>
            <a:r>
              <a:rPr dirty="0" sz="1600" spc="-16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35">
                <a:solidFill>
                  <a:srgbClr val="231F20"/>
                </a:solidFill>
                <a:latin typeface="Arial MT"/>
                <a:cs typeface="Arial MT"/>
              </a:rPr>
              <a:t>solutions,</a:t>
            </a:r>
            <a:r>
              <a:rPr dirty="0" sz="1600" spc="-135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25">
                <a:solidFill>
                  <a:srgbClr val="231F20"/>
                </a:solidFill>
                <a:latin typeface="Arial MT"/>
                <a:cs typeface="Arial MT"/>
              </a:rPr>
              <a:t>we </a:t>
            </a:r>
            <a:r>
              <a:rPr dirty="0" sz="1600" spc="-55">
                <a:solidFill>
                  <a:srgbClr val="231F20"/>
                </a:solidFill>
                <a:latin typeface="Arial MT"/>
                <a:cs typeface="Arial MT"/>
              </a:rPr>
              <a:t>chose</a:t>
            </a:r>
            <a:r>
              <a:rPr dirty="0" sz="1600" spc="-14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231F20"/>
                </a:solidFill>
                <a:latin typeface="Arial MT"/>
                <a:cs typeface="Arial MT"/>
              </a:rPr>
              <a:t>to start</a:t>
            </a:r>
            <a:r>
              <a:rPr dirty="0" sz="1600" spc="-7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231F20"/>
                </a:solidFill>
                <a:latin typeface="Arial MT"/>
                <a:cs typeface="Arial MT"/>
              </a:rPr>
              <a:t>this</a:t>
            </a:r>
            <a:r>
              <a:rPr dirty="0" sz="1600" spc="-6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25">
                <a:solidFill>
                  <a:srgbClr val="231F20"/>
                </a:solidFill>
                <a:latin typeface="Arial MT"/>
                <a:cs typeface="Arial MT"/>
              </a:rPr>
              <a:t>journey</a:t>
            </a:r>
            <a:r>
              <a:rPr dirty="0" sz="1600" spc="-19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231F20"/>
                </a:solidFill>
                <a:latin typeface="Arial MT"/>
                <a:cs typeface="Arial MT"/>
              </a:rPr>
              <a:t>by</a:t>
            </a:r>
            <a:r>
              <a:rPr dirty="0" sz="1600" spc="-175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40">
                <a:solidFill>
                  <a:srgbClr val="231F20"/>
                </a:solidFill>
                <a:latin typeface="Arial MT"/>
                <a:cs typeface="Arial MT"/>
              </a:rPr>
              <a:t>designing</a:t>
            </a:r>
            <a:r>
              <a:rPr dirty="0" sz="1600" spc="-11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25">
                <a:solidFill>
                  <a:srgbClr val="231F20"/>
                </a:solidFill>
                <a:latin typeface="Arial MT"/>
                <a:cs typeface="Arial MT"/>
              </a:rPr>
              <a:t>an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409" y="0"/>
            <a:ext cx="2117928" cy="1324267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" y="1"/>
            <a:ext cx="12191140" cy="685751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00747" y="2360677"/>
            <a:ext cx="3100070" cy="1010285"/>
          </a:xfrm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 marR="29209">
              <a:lnSpc>
                <a:spcPct val="101899"/>
              </a:lnSpc>
              <a:spcBef>
                <a:spcPts val="25"/>
              </a:spcBef>
            </a:pPr>
            <a:r>
              <a:rPr dirty="0" sz="3200" spc="-120">
                <a:latin typeface="Arial MT"/>
                <a:cs typeface="Arial MT"/>
              </a:rPr>
              <a:t>T</a:t>
            </a:r>
            <a:r>
              <a:rPr dirty="0" sz="3200" spc="-114">
                <a:latin typeface="Arial MT"/>
                <a:cs typeface="Arial MT"/>
              </a:rPr>
              <a:t>H</a:t>
            </a:r>
            <a:r>
              <a:rPr dirty="0" sz="3200" spc="405">
                <a:latin typeface="Arial MT"/>
                <a:cs typeface="Arial MT"/>
              </a:rPr>
              <a:t>E</a:t>
            </a:r>
            <a:r>
              <a:rPr dirty="0" sz="3200" spc="-150">
                <a:latin typeface="Arial MT"/>
                <a:cs typeface="Arial MT"/>
              </a:rPr>
              <a:t>MO</a:t>
            </a:r>
            <a:r>
              <a:rPr dirty="0" sz="3200" spc="-140">
                <a:latin typeface="Arial MT"/>
                <a:cs typeface="Arial MT"/>
              </a:rPr>
              <a:t>S</a:t>
            </a:r>
            <a:r>
              <a:rPr dirty="0" sz="3200" spc="130">
                <a:latin typeface="Arial MT"/>
                <a:cs typeface="Arial MT"/>
              </a:rPr>
              <a:t>T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 spc="-380">
                <a:latin typeface="Arial MT"/>
                <a:cs typeface="Arial MT"/>
              </a:rPr>
              <a:t>P</a:t>
            </a:r>
            <a:r>
              <a:rPr dirty="0" sz="3200" spc="-390">
                <a:latin typeface="Arial MT"/>
                <a:cs typeface="Arial MT"/>
              </a:rPr>
              <a:t>O</a:t>
            </a:r>
            <a:r>
              <a:rPr dirty="0" sz="3200" spc="-380">
                <a:latin typeface="Arial MT"/>
                <a:cs typeface="Arial MT"/>
              </a:rPr>
              <a:t>PU</a:t>
            </a:r>
            <a:r>
              <a:rPr dirty="0" sz="3200" spc="-385">
                <a:latin typeface="Arial MT"/>
                <a:cs typeface="Arial MT"/>
              </a:rPr>
              <a:t>LA</a:t>
            </a:r>
            <a:r>
              <a:rPr dirty="0" sz="3200" spc="145">
                <a:latin typeface="Arial MT"/>
                <a:cs typeface="Arial MT"/>
              </a:rPr>
              <a:t>R</a:t>
            </a:r>
            <a:r>
              <a:rPr dirty="0" sz="3200" spc="-320">
                <a:latin typeface="Arial MT"/>
                <a:cs typeface="Arial MT"/>
              </a:rPr>
              <a:t>CHO</a:t>
            </a:r>
            <a:r>
              <a:rPr dirty="0" sz="3200" spc="-315">
                <a:latin typeface="Arial MT"/>
                <a:cs typeface="Arial MT"/>
              </a:rPr>
              <a:t>I</a:t>
            </a:r>
            <a:r>
              <a:rPr dirty="0" sz="3200" spc="-320">
                <a:latin typeface="Arial MT"/>
                <a:cs typeface="Arial MT"/>
              </a:rPr>
              <a:t>CE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400747" y="3850132"/>
            <a:ext cx="3926840" cy="155257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50"/>
              </a:spcBef>
            </a:pPr>
            <a:r>
              <a:rPr dirty="0" sz="1600" spc="-80">
                <a:solidFill>
                  <a:srgbClr val="231F20"/>
                </a:solidFill>
                <a:latin typeface="Arial MT"/>
                <a:cs typeface="Arial MT"/>
              </a:rPr>
              <a:t>Since</a:t>
            </a:r>
            <a:r>
              <a:rPr dirty="0" sz="1600" spc="-17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231F20"/>
                </a:solidFill>
                <a:latin typeface="Arial MT"/>
                <a:cs typeface="Arial MT"/>
              </a:rPr>
              <a:t>its</a:t>
            </a:r>
            <a:r>
              <a:rPr dirty="0" sz="1600" spc="-65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231F20"/>
                </a:solidFill>
                <a:latin typeface="Arial MT"/>
                <a:cs typeface="Arial MT"/>
              </a:rPr>
              <a:t>entry</a:t>
            </a:r>
            <a:r>
              <a:rPr dirty="0" sz="1600" spc="-145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231F20"/>
                </a:solidFill>
                <a:latin typeface="Arial MT"/>
                <a:cs typeface="Arial MT"/>
              </a:rPr>
              <a:t>into</a:t>
            </a:r>
            <a:r>
              <a:rPr dirty="0" sz="1600" spc="-55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231F20"/>
                </a:solidFill>
                <a:latin typeface="Arial MT"/>
                <a:cs typeface="Arial MT"/>
              </a:rPr>
              <a:t>the</a:t>
            </a:r>
            <a:r>
              <a:rPr dirty="0" sz="1600" spc="-5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40">
                <a:solidFill>
                  <a:srgbClr val="231F20"/>
                </a:solidFill>
                <a:latin typeface="Arial MT"/>
                <a:cs typeface="Arial MT"/>
              </a:rPr>
              <a:t>consumer</a:t>
            </a:r>
            <a:r>
              <a:rPr dirty="0" sz="1600" spc="-204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50">
                <a:solidFill>
                  <a:srgbClr val="231F20"/>
                </a:solidFill>
                <a:latin typeface="Arial MT"/>
                <a:cs typeface="Arial MT"/>
              </a:rPr>
              <a:t>markets,</a:t>
            </a:r>
            <a:r>
              <a:rPr dirty="0" sz="1600" spc="-13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25">
                <a:solidFill>
                  <a:srgbClr val="231F20"/>
                </a:solidFill>
                <a:latin typeface="Arial MT"/>
                <a:cs typeface="Arial MT"/>
              </a:rPr>
              <a:t>the </a:t>
            </a:r>
            <a:r>
              <a:rPr dirty="0" sz="1600" spc="-45">
                <a:solidFill>
                  <a:srgbClr val="231F20"/>
                </a:solidFill>
                <a:latin typeface="Arial MT"/>
                <a:cs typeface="Arial MT"/>
              </a:rPr>
              <a:t>electric</a:t>
            </a:r>
            <a:r>
              <a:rPr dirty="0" sz="1600" spc="-114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35">
                <a:solidFill>
                  <a:srgbClr val="231F20"/>
                </a:solidFill>
                <a:latin typeface="Arial MT"/>
                <a:cs typeface="Arial MT"/>
              </a:rPr>
              <a:t>scooter</a:t>
            </a:r>
            <a:r>
              <a:rPr dirty="0" sz="1600" spc="-175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45">
                <a:solidFill>
                  <a:srgbClr val="231F20"/>
                </a:solidFill>
                <a:latin typeface="Arial MT"/>
                <a:cs typeface="Arial MT"/>
              </a:rPr>
              <a:t>has</a:t>
            </a:r>
            <a:r>
              <a:rPr dirty="0" sz="1600" spc="-14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40">
                <a:solidFill>
                  <a:srgbClr val="231F20"/>
                </a:solidFill>
                <a:latin typeface="Arial MT"/>
                <a:cs typeface="Arial MT"/>
              </a:rPr>
              <a:t>been</a:t>
            </a:r>
            <a:r>
              <a:rPr dirty="0" sz="1600" spc="-11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30">
                <a:solidFill>
                  <a:srgbClr val="231F20"/>
                </a:solidFill>
                <a:latin typeface="Arial MT"/>
                <a:cs typeface="Arial MT"/>
              </a:rPr>
              <a:t>rapidly</a:t>
            </a:r>
            <a:r>
              <a:rPr dirty="0" sz="1600" spc="-185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25">
                <a:solidFill>
                  <a:srgbClr val="231F20"/>
                </a:solidFill>
                <a:latin typeface="Arial MT"/>
                <a:cs typeface="Arial MT"/>
              </a:rPr>
              <a:t>adopted</a:t>
            </a:r>
            <a:r>
              <a:rPr dirty="0" sz="1600" spc="-9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25">
                <a:solidFill>
                  <a:srgbClr val="231F20"/>
                </a:solidFill>
                <a:latin typeface="Arial MT"/>
                <a:cs typeface="Arial MT"/>
              </a:rPr>
              <a:t>by </a:t>
            </a:r>
            <a:r>
              <a:rPr dirty="0" sz="1600">
                <a:solidFill>
                  <a:srgbClr val="231F20"/>
                </a:solidFill>
                <a:latin typeface="Arial MT"/>
                <a:cs typeface="Arial MT"/>
              </a:rPr>
              <a:t>the</a:t>
            </a:r>
            <a:r>
              <a:rPr dirty="0" sz="1600" spc="-7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55">
                <a:solidFill>
                  <a:srgbClr val="231F20"/>
                </a:solidFill>
                <a:latin typeface="Arial MT"/>
                <a:cs typeface="Arial MT"/>
              </a:rPr>
              <a:t>users</a:t>
            </a:r>
            <a:r>
              <a:rPr dirty="0" sz="1600" spc="-155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40">
                <a:solidFill>
                  <a:srgbClr val="231F20"/>
                </a:solidFill>
                <a:latin typeface="Arial MT"/>
                <a:cs typeface="Arial MT"/>
              </a:rPr>
              <a:t>as</a:t>
            </a:r>
            <a:r>
              <a:rPr dirty="0" sz="1600" spc="-20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231F20"/>
                </a:solidFill>
                <a:latin typeface="Arial MT"/>
                <a:cs typeface="Arial MT"/>
              </a:rPr>
              <a:t>the</a:t>
            </a:r>
            <a:r>
              <a:rPr dirty="0" sz="1600" spc="-105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40">
                <a:solidFill>
                  <a:srgbClr val="231F20"/>
                </a:solidFill>
                <a:latin typeface="Arial MT"/>
                <a:cs typeface="Arial MT"/>
              </a:rPr>
              <a:t>viable</a:t>
            </a:r>
            <a:r>
              <a:rPr dirty="0" sz="1600" spc="-13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231F20"/>
                </a:solidFill>
                <a:latin typeface="Arial MT"/>
                <a:cs typeface="Arial MT"/>
              </a:rPr>
              <a:t>option</a:t>
            </a:r>
            <a:r>
              <a:rPr dirty="0" sz="1600" spc="-75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231F20"/>
                </a:solidFill>
                <a:latin typeface="Arial MT"/>
                <a:cs typeface="Arial MT"/>
              </a:rPr>
              <a:t>to</a:t>
            </a:r>
            <a:r>
              <a:rPr dirty="0" sz="1600" spc="-15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60">
                <a:solidFill>
                  <a:srgbClr val="231F20"/>
                </a:solidFill>
                <a:latin typeface="Arial MT"/>
                <a:cs typeface="Arial MT"/>
              </a:rPr>
              <a:t>replace</a:t>
            </a:r>
            <a:r>
              <a:rPr dirty="0" sz="1600" spc="-16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20">
                <a:solidFill>
                  <a:srgbClr val="231F20"/>
                </a:solidFill>
                <a:latin typeface="Arial MT"/>
                <a:cs typeface="Arial MT"/>
              </a:rPr>
              <a:t>cars </a:t>
            </a:r>
            <a:r>
              <a:rPr dirty="0" sz="1600" spc="-30">
                <a:solidFill>
                  <a:srgbClr val="231F20"/>
                </a:solidFill>
                <a:latin typeface="Arial MT"/>
                <a:cs typeface="Arial MT"/>
              </a:rPr>
              <a:t>and</a:t>
            </a:r>
            <a:r>
              <a:rPr dirty="0" sz="1600" spc="-135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35">
                <a:solidFill>
                  <a:srgbClr val="231F20"/>
                </a:solidFill>
                <a:latin typeface="Arial MT"/>
                <a:cs typeface="Arial MT"/>
              </a:rPr>
              <a:t>public</a:t>
            </a:r>
            <a:r>
              <a:rPr dirty="0" sz="1600" spc="-14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231F20"/>
                </a:solidFill>
                <a:latin typeface="Arial MT"/>
                <a:cs typeface="Arial MT"/>
              </a:rPr>
              <a:t>transportation</a:t>
            </a:r>
            <a:r>
              <a:rPr dirty="0" sz="1600" spc="-75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231F20"/>
                </a:solidFill>
                <a:latin typeface="Arial MT"/>
                <a:cs typeface="Arial MT"/>
              </a:rPr>
              <a:t>in</a:t>
            </a:r>
            <a:r>
              <a:rPr dirty="0" sz="1600" spc="-9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25">
                <a:solidFill>
                  <a:srgbClr val="231F20"/>
                </a:solidFill>
                <a:latin typeface="Arial MT"/>
                <a:cs typeface="Arial MT"/>
              </a:rPr>
              <a:t>urban</a:t>
            </a:r>
            <a:r>
              <a:rPr dirty="0" sz="1600" spc="-114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231F20"/>
                </a:solidFill>
                <a:latin typeface="Arial MT"/>
                <a:cs typeface="Arial MT"/>
              </a:rPr>
              <a:t>areas.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solidFill>
                  <a:srgbClr val="231F20"/>
                </a:solidFill>
                <a:latin typeface="Arial MT"/>
                <a:cs typeface="Arial MT"/>
              </a:rPr>
              <a:t>That</a:t>
            </a:r>
            <a:r>
              <a:rPr dirty="0" sz="1600" spc="-14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40">
                <a:solidFill>
                  <a:srgbClr val="231F20"/>
                </a:solidFill>
                <a:latin typeface="Arial MT"/>
                <a:cs typeface="Arial MT"/>
              </a:rPr>
              <a:t>was</a:t>
            </a:r>
            <a:r>
              <a:rPr dirty="0" sz="1600" spc="-18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35">
                <a:solidFill>
                  <a:srgbClr val="231F20"/>
                </a:solidFill>
                <a:latin typeface="Arial MT"/>
                <a:cs typeface="Arial MT"/>
              </a:rPr>
              <a:t>six</a:t>
            </a:r>
            <a:r>
              <a:rPr dirty="0" sz="1600" spc="-215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50">
                <a:solidFill>
                  <a:srgbClr val="231F20"/>
                </a:solidFill>
                <a:latin typeface="Arial MT"/>
                <a:cs typeface="Arial MT"/>
              </a:rPr>
              <a:t>years</a:t>
            </a:r>
            <a:r>
              <a:rPr dirty="0" sz="1600" spc="-165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dirty="0" sz="1600" spc="-20">
                <a:solidFill>
                  <a:srgbClr val="231F20"/>
                </a:solidFill>
                <a:latin typeface="Arial MT"/>
                <a:cs typeface="Arial MT"/>
              </a:rPr>
              <a:t>ago.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1409" y="0"/>
            <a:ext cx="2117928" cy="13242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2026-05-04T01:54:18Z</dcterms:created>
  <dcterms:modified xsi:type="dcterms:W3CDTF">2026-05-04T01:54:18Z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2025-03-02T00:00:00Z</vt:filetime>
  </property>
  <property fmtid="{D5CDD505-2E9C-101B-9397-08002B2CF9AE}" pid="3" name="LastSaved">
    <vt:filetime>2026-05-04T00:00:00Z</vt:filetime>
  </property>
  <property fmtid="{D5CDD505-2E9C-101B-9397-08002B2CF9AE}" pid="4" name="Producer">
    <vt:lpwstr>iLovePDF</vt:lpwstr>
  </property>
</Properties>
</file>